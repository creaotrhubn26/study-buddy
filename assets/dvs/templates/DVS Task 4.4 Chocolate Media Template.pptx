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3781903840c4a6f" /><Relationship Type="http://schemas.openxmlformats.org/officeDocument/2006/relationships/extended-properties" Target="/docProps/app.xml" Id="Rea299e3499b34f7d" /><Relationship Type="http://schemas.openxmlformats.org/officeDocument/2006/relationships/officeDocument" Target="/ppt/presentation.xml" Id="R543ef0847d4f46bc" /></Relationships>
</file>

<file path=ppt/presentation.xml><?xml version="1.0" encoding="utf-8"?>
<p:presentation xmlns:p="http://schemas.openxmlformats.org/presentationml/2006/main">
  <p:sldMasterIdLst>
    <p:sldMasterId xmlns:r="http://schemas.openxmlformats.org/officeDocument/2006/relationships" id="2147483648" r:id="R993a44d1e92443c2"/>
  </p:sldMasterIdLst>
  <p:notesMasterIdLst>
    <p:notesMasterId xmlns:r="http://schemas.openxmlformats.org/officeDocument/2006/relationships" r:id="R01986a63a8f5484d"/>
  </p:notesMasterIdLst>
  <p:sldIdLst>
    <p:sldId xmlns:r="http://schemas.openxmlformats.org/officeDocument/2006/relationships" id="256" r:id="R5917009812f94a4f"/>
    <p:sldId xmlns:r="http://schemas.openxmlformats.org/officeDocument/2006/relationships" id="257" r:id="R4fef65e50dfa4aff"/>
    <p:sldId xmlns:r="http://schemas.openxmlformats.org/officeDocument/2006/relationships" id="258" r:id="R523a9f766051458b"/>
    <p:sldId xmlns:r="http://schemas.openxmlformats.org/officeDocument/2006/relationships" id="259" r:id="Rc6ba76a9ed3a40ee"/>
    <p:sldId xmlns:r="http://schemas.openxmlformats.org/officeDocument/2006/relationships" id="260" r:id="R5aba136c63684fad"/>
    <p:sldId xmlns:r="http://schemas.openxmlformats.org/officeDocument/2006/relationships" id="261" r:id="R6c74a3d2c2c24278"/>
    <p:sldId xmlns:r="http://schemas.openxmlformats.org/officeDocument/2006/relationships" id="262" r:id="Rc3b2f526169d41d5"/>
    <p:sldId xmlns:r="http://schemas.openxmlformats.org/officeDocument/2006/relationships" id="263" r:id="R5729f79fce574e85"/>
    <p:sldId xmlns:r="http://schemas.openxmlformats.org/officeDocument/2006/relationships" id="264" r:id="R12923e8060de47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c76fadbf63443b" /><Relationship Type="http://schemas.openxmlformats.org/officeDocument/2006/relationships/slideMaster" Target="/ppt/slideMasters/slideMaster1.xml" Id="R993a44d1e92443c2" /><Relationship Type="http://schemas.openxmlformats.org/officeDocument/2006/relationships/notesMaster" Target="/ppt/notesMasters/notesMaster1.xml" Id="R01986a63a8f5484d" /><Relationship Type="http://schemas.openxmlformats.org/officeDocument/2006/relationships/presProps" Target="/ppt/presProps.xml" Id="R3c2fbbb61ae84052" /><Relationship Type="http://schemas.openxmlformats.org/officeDocument/2006/relationships/tableStyles" Target="/ppt/tableStyles.xml" Id="Rce7612ceb84f41a2" /><Relationship Type="http://schemas.openxmlformats.org/officeDocument/2006/relationships/slide" Target="/ppt/slides/slide1.xml" Id="R5917009812f94a4f" /><Relationship Type="http://schemas.openxmlformats.org/officeDocument/2006/relationships/slide" Target="/ppt/slides/slide2.xml" Id="R4fef65e50dfa4aff" /><Relationship Type="http://schemas.openxmlformats.org/officeDocument/2006/relationships/slide" Target="/ppt/slides/slide3.xml" Id="R523a9f766051458b" /><Relationship Type="http://schemas.openxmlformats.org/officeDocument/2006/relationships/slide" Target="/ppt/slides/slide4.xml" Id="Rc6ba76a9ed3a40ee" /><Relationship Type="http://schemas.openxmlformats.org/officeDocument/2006/relationships/slide" Target="/ppt/slides/slide5.xml" Id="R5aba136c63684fad" /><Relationship Type="http://schemas.openxmlformats.org/officeDocument/2006/relationships/slide" Target="/ppt/slides/slide6.xml" Id="R6c74a3d2c2c24278" /><Relationship Type="http://schemas.openxmlformats.org/officeDocument/2006/relationships/slide" Target="/ppt/slides/slide7.xml" Id="Rc3b2f526169d41d5" /><Relationship Type="http://schemas.openxmlformats.org/officeDocument/2006/relationships/slide" Target="/ppt/slides/slide8.xml" Id="R5729f79fce574e85" /><Relationship Type="http://schemas.openxmlformats.org/officeDocument/2006/relationships/slide" Target="/ppt/slides/slide9.xml" Id="R12923e8060de47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583e590c444a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dabb83715444d4" /><Relationship Type="http://schemas.openxmlformats.org/officeDocument/2006/relationships/notesMaster" Target="/ppt/notesMasters/notesMaster1.xml" Id="R70251a9e220b46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750fc31c0944b8" /><Relationship Type="http://schemas.openxmlformats.org/officeDocument/2006/relationships/notesMaster" Target="/ppt/notesMasters/notesMaster1.xml" Id="R8f11bbcc8bd248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c2148618de4ada" /><Relationship Type="http://schemas.openxmlformats.org/officeDocument/2006/relationships/notesMaster" Target="/ppt/notesMasters/notesMaster1.xml" Id="R3a5f0de29d984a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47a03dd55741a8" /><Relationship Type="http://schemas.openxmlformats.org/officeDocument/2006/relationships/notesMaster" Target="/ppt/notesMasters/notesMaster1.xml" Id="R5a89a05db1ba4e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6d409fd4e849b1" /><Relationship Type="http://schemas.openxmlformats.org/officeDocument/2006/relationships/notesMaster" Target="/ppt/notesMasters/notesMaster1.xml" Id="Rdf957232115743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1dd03ad3be4072" /><Relationship Type="http://schemas.openxmlformats.org/officeDocument/2006/relationships/notesMaster" Target="/ppt/notesMasters/notesMaster1.xml" Id="R33fd9062ea6c45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a6b27afc714236" /><Relationship Type="http://schemas.openxmlformats.org/officeDocument/2006/relationships/notesMaster" Target="/ppt/notesMasters/notesMaster1.xml" Id="Red96a1ca336b4b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cf802fbef940ff" /><Relationship Type="http://schemas.openxmlformats.org/officeDocument/2006/relationships/notesMaster" Target="/ppt/notesMasters/notesMaster1.xml" Id="Rfde3d8cb14ae40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15f77638c7458c" /><Relationship Type="http://schemas.openxmlformats.org/officeDocument/2006/relationships/notesMaster" Target="/ppt/notesMasters/notesMaster1.xml" Id="R21226f79072644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task: https://learning.noroff.no/mod/book/view.php?id=22907&amp;chapterid=81662. Nine slides keep every qualifying group legible. Suggested show order: all slides 1,2,7,8,3,4,9,5,6; best groups 1,2,7,8,3,4,9; rating statistics 5,6. Configure native custom shows yourself. Wisp, Float In and the clarified transition must be applied in PowerPoint. Rankings reflect this review dataset and sample sizes, not universal product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Original CSV SHA256 75d1a2ccb7235cb990f1f10de6d2186902d1ef232c077142923cb3c2d141ca0a, 2588 rows. Company group averages &gt;3.5; global ranking continues on slides 7 and 8.</a:t>
            </a:r>
          </a:p>
          <a:p xmlns:a="http://schemas.openxmlformats.org/drawingml/2006/main">
            <a:r>
              <a:t>Group mean = sum of numeric ratings / count of review rows. Cutoffs applied before rounding. Embedded chart data is a calculated literal snapshot; refresh from CSV after source changes.</a:t>
            </a:r>
          </a:p>
          <a:p xmlns:a="http://schemas.openxmlformats.org/drawingml/2006/main">
            <a:r>
              <a:t>Tobago Estate (Pralus): mean=4; reviews=1</a:t>
            </a:r>
          </a:p>
          <a:p xmlns:a="http://schemas.openxmlformats.org/drawingml/2006/main">
            <a:r>
              <a:t>Heirloom Cacao Preservation (Zokoko): mean=3.875; reviews=2</a:t>
            </a:r>
          </a:p>
          <a:p xmlns:a="http://schemas.openxmlformats.org/drawingml/2006/main">
            <a:r>
              <a:t>Ocelot: mean=3.875; reviews=2</a:t>
            </a:r>
          </a:p>
          <a:p xmlns:a="http://schemas.openxmlformats.org/drawingml/2006/main">
            <a:r>
              <a:t>Matale: mean=3.8125; reviews=4</a:t>
            </a:r>
          </a:p>
          <a:p xmlns:a="http://schemas.openxmlformats.org/drawingml/2006/main">
            <a:r>
              <a:t>Patric: mean=3.7916666666666665; reviews=6</a:t>
            </a:r>
          </a:p>
          <a:p xmlns:a="http://schemas.openxmlformats.org/drawingml/2006/main">
            <a:r>
              <a:t>Idilio (Felchlin): mean=3.775; reviews=10</a:t>
            </a:r>
          </a:p>
          <a:p xmlns:a="http://schemas.openxmlformats.org/drawingml/2006/main">
            <a:r>
              <a:t>Chocola'te: mean=3.75; reviews=2</a:t>
            </a:r>
          </a:p>
          <a:p xmlns:a="http://schemas.openxmlformats.org/drawingml/2006/main">
            <a:r>
              <a:t>Christopher Morel (Felchlin): mean=3.75; reviews=1</a:t>
            </a:r>
          </a:p>
          <a:p xmlns:a="http://schemas.openxmlformats.org/drawingml/2006/main">
            <a:r>
              <a:t>Cuna de Piedra: mean=3.75; reviews=1</a:t>
            </a:r>
          </a:p>
          <a:p xmlns:a="http://schemas.openxmlformats.org/drawingml/2006/main">
            <a:r>
              <a:t>Dole (Guittard): mean=3.75; reviews=1</a:t>
            </a:r>
          </a:p>
          <a:p xmlns:a="http://schemas.openxmlformats.org/drawingml/2006/main">
            <a:r>
              <a:t>Kerchner: mean=3.75; reviews=1</a:t>
            </a:r>
          </a:p>
          <a:p xmlns:a="http://schemas.openxmlformats.org/drawingml/2006/main">
            <a:r>
              <a:t>Landmark (Amano): mean=3.75; reviews=1</a:t>
            </a:r>
          </a:p>
          <a:p xmlns:a="http://schemas.openxmlformats.org/drawingml/2006/main">
            <a:r>
              <a:t>Nikoa: mean=3.75; reviews=1</a:t>
            </a:r>
          </a:p>
          <a:p xmlns:a="http://schemas.openxmlformats.org/drawingml/2006/main">
            <a:r>
              <a:t>Obolo: mean=3.75; reviews=2</a:t>
            </a:r>
          </a:p>
          <a:p xmlns:a="http://schemas.openxmlformats.org/drawingml/2006/main">
            <a:r>
              <a:t>Apply Wisp and Float In in PowerPoint. Review Transition name remains to be clarified if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Original CSV SHA256 75d1a2ccb7235cb990f1f10de6d2186902d1ef232c077142923cb3c2d141ca0a, 2588 rows. Bean-origin group averages &gt;3.25; all thirteen qualifying groups shown.</a:t>
            </a:r>
          </a:p>
          <a:p xmlns:a="http://schemas.openxmlformats.org/drawingml/2006/main">
            <a:r>
              <a:t>Group mean = sum of numeric ratings / count of review rows. Cutoffs applied before rounding. Embedded chart data is a calculated literal snapshot; refresh from CSV after source changes.</a:t>
            </a:r>
          </a:p>
          <a:p xmlns:a="http://schemas.openxmlformats.org/drawingml/2006/main">
            <a:r>
              <a:t>Tobago: mean=3.625; reviews=2</a:t>
            </a:r>
          </a:p>
          <a:p xmlns:a="http://schemas.openxmlformats.org/drawingml/2006/main">
            <a:r>
              <a:t>China: mean=3.5; reviews=1</a:t>
            </a:r>
          </a:p>
          <a:p xmlns:a="http://schemas.openxmlformats.org/drawingml/2006/main">
            <a:r>
              <a:t>Sao Tome &amp; Principe: mean=3.5; reviews=2</a:t>
            </a:r>
          </a:p>
          <a:p xmlns:a="http://schemas.openxmlformats.org/drawingml/2006/main">
            <a:r>
              <a:t>Solomon Islands: mean=3.45; reviews=10</a:t>
            </a:r>
          </a:p>
          <a:p xmlns:a="http://schemas.openxmlformats.org/drawingml/2006/main">
            <a:r>
              <a:t>Congo: mean=3.3181818181818183; reviews=11</a:t>
            </a:r>
          </a:p>
          <a:p xmlns:a="http://schemas.openxmlformats.org/drawingml/2006/main">
            <a:r>
              <a:t>Thailand: mean=3.3; reviews=5</a:t>
            </a:r>
          </a:p>
          <a:p xmlns:a="http://schemas.openxmlformats.org/drawingml/2006/main">
            <a:r>
              <a:t>Vietnam: mean=3.2804054054054053; reviews=74</a:t>
            </a:r>
          </a:p>
          <a:p xmlns:a="http://schemas.openxmlformats.org/drawingml/2006/main">
            <a:r>
              <a:t>Papua New Guinea: mean=3.28; reviews=50</a:t>
            </a:r>
          </a:p>
          <a:p xmlns:a="http://schemas.openxmlformats.org/drawingml/2006/main">
            <a:r>
              <a:t>Cuba: mean=3.269230769230769; reviews=13</a:t>
            </a:r>
          </a:p>
          <a:p xmlns:a="http://schemas.openxmlformats.org/drawingml/2006/main">
            <a:r>
              <a:t>Guatemala: mean=3.268939393939394; reviews=66</a:t>
            </a:r>
          </a:p>
          <a:p xmlns:a="http://schemas.openxmlformats.org/drawingml/2006/main">
            <a:r>
              <a:t>Madagascar: mean=3.266304347826087; reviews=184</a:t>
            </a:r>
          </a:p>
          <a:p xmlns:a="http://schemas.openxmlformats.org/drawingml/2006/main">
            <a:r>
              <a:t>Brazil: mean=3.2623456790123457; reviews=81</a:t>
            </a:r>
          </a:p>
          <a:p xmlns:a="http://schemas.openxmlformats.org/drawingml/2006/main">
            <a:r>
              <a:t>Nicaragua: mean=3.254854368932039; reviews=103</a:t>
            </a:r>
          </a:p>
          <a:p xmlns:a="http://schemas.openxmlformats.org/drawingml/2006/main">
            <a:r>
              <a:t>Apply Wisp and Float In in PowerPoint. Review Transition name remains to be clarified if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Original CSV SHA256 75d1a2ccb7235cb990f1f10de6d2186902d1ef232c077142923cb3c2d141ca0a, 2588 rows. Group averages &gt;=3.0, not Cocoa Percent &gt;=3.0; ranking continues on slide 9.</a:t>
            </a:r>
          </a:p>
          <a:p xmlns:a="http://schemas.openxmlformats.org/drawingml/2006/main">
            <a:r>
              <a:t>Group mean = sum of numeric ratings / count of review rows. Cutoffs applied before rounding. Embedded chart data is a calculated literal snapshot; refresh from CSV after source changes.</a:t>
            </a:r>
          </a:p>
          <a:p xmlns:a="http://schemas.openxmlformats.org/drawingml/2006/main">
            <a:r>
              <a:t>50%: mean=3.75; reviews=1</a:t>
            </a:r>
          </a:p>
          <a:p xmlns:a="http://schemas.openxmlformats.org/drawingml/2006/main">
            <a:r>
              <a:t>63%: mean=3.5; reviews=15</a:t>
            </a:r>
          </a:p>
          <a:p xmlns:a="http://schemas.openxmlformats.org/drawingml/2006/main">
            <a:r>
              <a:t>69%: mean=3.4615384615384617; reviews=13</a:t>
            </a:r>
          </a:p>
          <a:p xmlns:a="http://schemas.openxmlformats.org/drawingml/2006/main">
            <a:r>
              <a:t>78%: mean=3.3863636363636362; reviews=22</a:t>
            </a:r>
          </a:p>
          <a:p xmlns:a="http://schemas.openxmlformats.org/drawingml/2006/main">
            <a:r>
              <a:t>66%: mean=3.3482142857142856; reviews=28</a:t>
            </a:r>
          </a:p>
          <a:p xmlns:a="http://schemas.openxmlformats.org/drawingml/2006/main">
            <a:r>
              <a:t>67%: mean=3.335714285714286; reviews=35</a:t>
            </a:r>
          </a:p>
          <a:p xmlns:a="http://schemas.openxmlformats.org/drawingml/2006/main">
            <a:r>
              <a:t>68%: mean=3.29; reviews=75</a:t>
            </a:r>
          </a:p>
          <a:p xmlns:a="http://schemas.openxmlformats.org/drawingml/2006/main">
            <a:r>
              <a:t>70%: mean=3.2654205607476636; reviews=1070</a:t>
            </a:r>
          </a:p>
          <a:p xmlns:a="http://schemas.openxmlformats.org/drawingml/2006/main">
            <a:r>
              <a:t>56%: mean=3.25; reviews=2</a:t>
            </a:r>
          </a:p>
          <a:p xmlns:a="http://schemas.openxmlformats.org/drawingml/2006/main">
            <a:r>
              <a:t>79%: mean=3.25; reviews=2</a:t>
            </a:r>
          </a:p>
          <a:p xmlns:a="http://schemas.openxmlformats.org/drawingml/2006/main">
            <a:r>
              <a:t>86%: mean=3.25; reviews=1</a:t>
            </a:r>
          </a:p>
          <a:p xmlns:a="http://schemas.openxmlformats.org/drawingml/2006/main">
            <a:r>
              <a:t>87%: mean=3.25; reviews=1</a:t>
            </a:r>
          </a:p>
          <a:p xmlns:a="http://schemas.openxmlformats.org/drawingml/2006/main">
            <a:r>
              <a:t>88%: mean=3.21875; reviews=8</a:t>
            </a:r>
          </a:p>
          <a:p xmlns:a="http://schemas.openxmlformats.org/drawingml/2006/main">
            <a:r>
              <a:t>72%: mean=3.2168284789644015; reviews=309</a:t>
            </a:r>
          </a:p>
          <a:p xmlns:a="http://schemas.openxmlformats.org/drawingml/2006/main">
            <a:r>
              <a:t>74%: mean=3.213768115942029; reviews=69</a:t>
            </a:r>
          </a:p>
          <a:p xmlns:a="http://schemas.openxmlformats.org/drawingml/2006/main">
            <a:r>
              <a:t>Apply Wisp and Float In in PowerPoint. Review Transition name remains to be clarified if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Original CSV SHA256 75d1a2ccb7235cb990f1f10de6d2186902d1ef232c077142923cb3c2d141ca0a, 2588 rows. Average of Rating grouped by the year in Review Date.</a:t>
            </a:r>
          </a:p>
          <a:p xmlns:a="http://schemas.openxmlformats.org/drawingml/2006/main">
            <a:r>
              <a:t>Group mean = sum of numeric ratings / count of review rows. Cutoffs applied before rounding. Embedded chart data is a calculated literal snapshot; refresh from CSV after source changes.</a:t>
            </a:r>
          </a:p>
          <a:p xmlns:a="http://schemas.openxmlformats.org/drawingml/2006/main">
            <a:r>
              <a:t>2006: mean=3.004032258064516; reviews=62</a:t>
            </a:r>
          </a:p>
          <a:p xmlns:a="http://schemas.openxmlformats.org/drawingml/2006/main">
            <a:r>
              <a:t>2007: mean=3.1027397260273974; reviews=73</a:t>
            </a:r>
          </a:p>
          <a:p xmlns:a="http://schemas.openxmlformats.org/drawingml/2006/main">
            <a:r>
              <a:t>2008: mean=3; reviews=92</a:t>
            </a:r>
          </a:p>
          <a:p xmlns:a="http://schemas.openxmlformats.org/drawingml/2006/main">
            <a:r>
              <a:t>2009: mean=3.073170731707317; reviews=123</a:t>
            </a:r>
          </a:p>
          <a:p xmlns:a="http://schemas.openxmlformats.org/drawingml/2006/main">
            <a:r>
              <a:t>2010: mean=3.1522727272727273; reviews=110</a:t>
            </a:r>
          </a:p>
          <a:p xmlns:a="http://schemas.openxmlformats.org/drawingml/2006/main">
            <a:r>
              <a:t>2011: mean=3.2576687116564416; reviews=163</a:t>
            </a:r>
          </a:p>
          <a:p xmlns:a="http://schemas.openxmlformats.org/drawingml/2006/main">
            <a:r>
              <a:t>2012: mean=3.1804123711340204; reviews=194</a:t>
            </a:r>
          </a:p>
          <a:p xmlns:a="http://schemas.openxmlformats.org/drawingml/2006/main">
            <a:r>
              <a:t>2013: mean=3.19672131147541; reviews=183</a:t>
            </a:r>
          </a:p>
          <a:p xmlns:a="http://schemas.openxmlformats.org/drawingml/2006/main">
            <a:r>
              <a:t>2014: mean=3.1892712550607287; reviews=247</a:t>
            </a:r>
          </a:p>
          <a:p xmlns:a="http://schemas.openxmlformats.org/drawingml/2006/main">
            <a:r>
              <a:t>2015: mean=3.244718309859155; reviews=284</a:t>
            </a:r>
          </a:p>
          <a:p xmlns:a="http://schemas.openxmlformats.org/drawingml/2006/main">
            <a:r>
              <a:t>2016: mean=3.228110599078341; reviews=217</a:t>
            </a:r>
          </a:p>
          <a:p xmlns:a="http://schemas.openxmlformats.org/drawingml/2006/main">
            <a:r>
              <a:t>2017: mean=3.361904761904762; reviews=105</a:t>
            </a:r>
          </a:p>
          <a:p xmlns:a="http://schemas.openxmlformats.org/drawingml/2006/main">
            <a:r>
              <a:t>2018: mean=3.191885964912281; reviews=228</a:t>
            </a:r>
          </a:p>
          <a:p xmlns:a="http://schemas.openxmlformats.org/drawingml/2006/main">
            <a:r>
              <a:t>2019: mean=3.134715025906736; reviews=193</a:t>
            </a:r>
          </a:p>
          <a:p xmlns:a="http://schemas.openxmlformats.org/drawingml/2006/main">
            <a:r>
              <a:t>2020: mean=3.256172839506173; reviews=81</a:t>
            </a:r>
          </a:p>
          <a:p xmlns:a="http://schemas.openxmlformats.org/drawingml/2006/main">
            <a:r>
              <a:t>2021: mean=3.32; reviews=175</a:t>
            </a:r>
          </a:p>
          <a:p xmlns:a="http://schemas.openxmlformats.org/drawingml/2006/main">
            <a:r>
              <a:t>2022: mean=3.2844827586206895; reviews=58</a:t>
            </a:r>
          </a:p>
          <a:p xmlns:a="http://schemas.openxmlformats.org/drawingml/2006/main">
            <a:r>
              <a:t>Apply Wisp and Float In in PowerPoint. Review Transition name remains to be clarified if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Original CSV SHA256 75d1a2ccb7235cb990f1f10de6d2186902d1ef232c077142923cb3c2d141ca0a, 2588 rows. Count of review rows by year, not Sum or Distinct Count of REF.</a:t>
            </a:r>
          </a:p>
          <a:p xmlns:a="http://schemas.openxmlformats.org/drawingml/2006/main">
            <a:r>
              <a:t>Group mean = sum of numeric ratings / count of review rows. Cutoffs applied before rounding. Embedded chart data is a calculated literal snapshot; refresh from CSV after source changes.</a:t>
            </a:r>
          </a:p>
          <a:p xmlns:a="http://schemas.openxmlformats.org/drawingml/2006/main">
            <a:r>
              <a:t>2006: mean=3.004032258064516; reviews=62</a:t>
            </a:r>
          </a:p>
          <a:p xmlns:a="http://schemas.openxmlformats.org/drawingml/2006/main">
            <a:r>
              <a:t>2007: mean=3.1027397260273974; reviews=73</a:t>
            </a:r>
          </a:p>
          <a:p xmlns:a="http://schemas.openxmlformats.org/drawingml/2006/main">
            <a:r>
              <a:t>2008: mean=3; reviews=92</a:t>
            </a:r>
          </a:p>
          <a:p xmlns:a="http://schemas.openxmlformats.org/drawingml/2006/main">
            <a:r>
              <a:t>2009: mean=3.073170731707317; reviews=123</a:t>
            </a:r>
          </a:p>
          <a:p xmlns:a="http://schemas.openxmlformats.org/drawingml/2006/main">
            <a:r>
              <a:t>2010: mean=3.1522727272727273; reviews=110</a:t>
            </a:r>
          </a:p>
          <a:p xmlns:a="http://schemas.openxmlformats.org/drawingml/2006/main">
            <a:r>
              <a:t>2011: mean=3.2576687116564416; reviews=163</a:t>
            </a:r>
          </a:p>
          <a:p xmlns:a="http://schemas.openxmlformats.org/drawingml/2006/main">
            <a:r>
              <a:t>2012: mean=3.1804123711340204; reviews=194</a:t>
            </a:r>
          </a:p>
          <a:p xmlns:a="http://schemas.openxmlformats.org/drawingml/2006/main">
            <a:r>
              <a:t>2013: mean=3.19672131147541; reviews=183</a:t>
            </a:r>
          </a:p>
          <a:p xmlns:a="http://schemas.openxmlformats.org/drawingml/2006/main">
            <a:r>
              <a:t>2014: mean=3.1892712550607287; reviews=247</a:t>
            </a:r>
          </a:p>
          <a:p xmlns:a="http://schemas.openxmlformats.org/drawingml/2006/main">
            <a:r>
              <a:t>2015: mean=3.244718309859155; reviews=284</a:t>
            </a:r>
          </a:p>
          <a:p xmlns:a="http://schemas.openxmlformats.org/drawingml/2006/main">
            <a:r>
              <a:t>2016: mean=3.228110599078341; reviews=217</a:t>
            </a:r>
          </a:p>
          <a:p xmlns:a="http://schemas.openxmlformats.org/drawingml/2006/main">
            <a:r>
              <a:t>2017: mean=3.361904761904762; reviews=105</a:t>
            </a:r>
          </a:p>
          <a:p xmlns:a="http://schemas.openxmlformats.org/drawingml/2006/main">
            <a:r>
              <a:t>2018: mean=3.191885964912281; reviews=228</a:t>
            </a:r>
          </a:p>
          <a:p xmlns:a="http://schemas.openxmlformats.org/drawingml/2006/main">
            <a:r>
              <a:t>2019: mean=3.134715025906736; reviews=193</a:t>
            </a:r>
          </a:p>
          <a:p xmlns:a="http://schemas.openxmlformats.org/drawingml/2006/main">
            <a:r>
              <a:t>2020: mean=3.256172839506173; reviews=81</a:t>
            </a:r>
          </a:p>
          <a:p xmlns:a="http://schemas.openxmlformats.org/drawingml/2006/main">
            <a:r>
              <a:t>2021: mean=3.32; reviews=175</a:t>
            </a:r>
          </a:p>
          <a:p xmlns:a="http://schemas.openxmlformats.org/drawingml/2006/main">
            <a:r>
              <a:t>2022: mean=3.2844827586206895; reviews=58</a:t>
            </a:r>
          </a:p>
          <a:p xmlns:a="http://schemas.openxmlformats.org/drawingml/2006/main">
            <a:r>
              <a:t>Apply Wisp and Float In in PowerPoint. Review Transition name remains to be clarified if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Continuation of all 42 companies with group averages &gt;3.5. [{"label":"Timo A. Meyer","mean":3.75,"count":1},{"label":"Un Dimanche A Paris","mean":3.75,"count":1},{"label":"Utopick","mean":3.75,"count":2},{"label":"Chokola","mean":3.7083333333333335,"count":6},{"label":"Madecasse (Cinagra)","mean":3.6875,"count":4},{"label":"Cacao Sampaka","mean":3.6666666666666665,"count":9},{"label":"Fresh Coast aka Just Good Choc.","mean":3.6666666666666665,"count":3},{"label":"Cacaosuyo","mean":3.625,"count":4},{"label":"Captain Pembleton","mean":3.625,"count":2},{"label":"Fresh Coast","mean":3.625,"count":2},{"label":"Oialla by Bojessen (Malmo)","mean":3.625,"count":2},{"label":"Qantu","mean":3.6,"count":5},{"label":"Soma","mean":3.5964912280701755,"count":57},{"label":"Benoit Nihant","mean":3.59375,"count":8}]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Continuation of all 42 companies with group averages &gt;3.5. [{"label":"Durci","mean":3.5833333333333335,"count":6},{"label":"Raphio","mean":3.5833333333333335,"count":6},{"label":"Bar Au Chocolat","mean":3.5714285714285716,"count":7},{"label":"Acalli","mean":3.5625,"count":4},{"label":"Brasstown","mean":3.5625,"count":4},{"label":"Potomac","mean":3.55,"count":10},{"label":"White Label aka Mutari","mean":3.55,"count":10},{"label":"Zokoko","mean":3.55,"count":5},{"label":"Friis Holm","mean":3.546875,"count":16},{"label":"Brasstown aka It's Chocolate","mean":3.5454545454545454,"count":11},{"label":"Ritual","mean":3.5384615384615383,"count":13},{"label":"Christopher Elbow","mean":3.5357142857142856,"count":7},{"label":"Arete","mean":3.53125,"count":32},{"label":"Smooth Chocolator, The","mean":3.514705882352941,"count":17}]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https://learning.noroff.no/mod/book/view.php?id=22907&amp;chapterid=81662. Continuation of all 30 cocoa-percentage groups with average Rating &gt;=3.0. [{"label":"73%","mean":3.1977611940298507,"count":67},{"label":"64%","mean":3.195945945945946,"count":37},{"label":"65%","mean":3.163978494623656,"count":93},{"label":"75%","mean":3.1618589743589745,"count":312},{"label":"58%","mean":3.125,"count":8},{"label":"71.50%","mean":3.125,"count":2},{"label":"73.50%","mean":3.125,"count":2},{"label":"77%","mean":3.0988372093023258,"count":43},{"label":"80%","mean":3.0861111111111112,"count":90},{"label":"71%","mean":3.0681818181818183,"count":44},{"label":"82%","mean":3.0416666666666665,"count":18},{"label":"76%","mean":3.0214285714285714,"count":35},{"label":"60%","mean":3.005434782608696,"count":46},{"label":"83%","mean":3,"count":5},{"label":"85%","mean":3,"count":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1c361175c349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955de9070a41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59a484687c4e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d8bf663ce846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104e5451da4f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be39a69dfe43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76D077-8981-40E5-8B37-81F616790A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436F3AB-0C13-4054-A44F-5872447EC9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9A47D6-6CBC-4857-AAE7-6FAC615F24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38A1AF-B7C8-4BE8-A9BA-7A346A2654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6543A3-8303-4FCF-9FCF-DAD7A8E7A7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DED906-6410-4419-ADD2-711B9B2F4E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C4E0A5-FA23-4888-9AFF-C16F4BD343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EF9E5C-36A2-4449-85DB-E49BAF444F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49E960-DB2A-4195-B88C-BE69397F36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166EC7-148F-4B3D-ABA7-793A809255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8b185846534921" /><Relationship Type="http://schemas.openxmlformats.org/officeDocument/2006/relationships/slideLayout" Target="/ppt/slideLayouts/slideLayout1.xml" Id="R3073527ccca24892" /><Relationship Type="http://schemas.openxmlformats.org/officeDocument/2006/relationships/slideLayout" Target="/ppt/slideLayouts/slideLayout2.xml" Id="R9bba9b6da47347cb" /><Relationship Type="http://schemas.openxmlformats.org/officeDocument/2006/relationships/slideLayout" Target="/ppt/slideLayouts/slideLayout3.xml" Id="R82739572618a424c" /><Relationship Type="http://schemas.openxmlformats.org/officeDocument/2006/relationships/slideLayout" Target="/ppt/slideLayouts/slideLayout4.xml" Id="R5848025c4c8f4fd2" /><Relationship Type="http://schemas.openxmlformats.org/officeDocument/2006/relationships/slideLayout" Target="/ppt/slideLayouts/slideLayout5.xml" Id="Rd70c0ef3466d4c53" /><Relationship Type="http://schemas.openxmlformats.org/officeDocument/2006/relationships/slideLayout" Target="/ppt/slideLayouts/slideLayout6.xml" Id="Rc5b39b21622d45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73527ccca24892"/>
    <p:sldLayoutId xmlns:r="http://schemas.openxmlformats.org/officeDocument/2006/relationships" id="2147483650" r:id="R9bba9b6da47347cb"/>
    <p:sldLayoutId xmlns:r="http://schemas.openxmlformats.org/officeDocument/2006/relationships" id="2147483651" r:id="R82739572618a424c"/>
    <p:sldLayoutId xmlns:r="http://schemas.openxmlformats.org/officeDocument/2006/relationships" id="2147483652" r:id="R5848025c4c8f4fd2"/>
    <p:sldLayoutId xmlns:r="http://schemas.openxmlformats.org/officeDocument/2006/relationships" id="2147483653" r:id="Rd70c0ef3466d4c53"/>
    <p:sldLayoutId xmlns:r="http://schemas.openxmlformats.org/officeDocument/2006/relationships" id="2147483654" r:id="Rc5b39b21622d45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9e8bbfd96040eb" /><Relationship Type="http://schemas.openxmlformats.org/officeDocument/2006/relationships/image" Target="/ppt/media/image.png" Id="R9888ce2228a34495" /><Relationship Type="http://schemas.openxmlformats.org/officeDocument/2006/relationships/notesSlide" Target="/ppt/notesSlides/notesSlide1.xml" Id="R168b0f05e7d44b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bee37fd7124b66" /><Relationship Type="http://schemas.openxmlformats.org/officeDocument/2006/relationships/chart" Target="/ppt/slides/charts/chart1.xml" Id="Rc6e31fbd850144b4" /><Relationship Type="http://schemas.openxmlformats.org/officeDocument/2006/relationships/notesSlide" Target="/ppt/notesSlides/notesSlide2.xml" Id="R64f8c0b9790d45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dfc56db81ce4c74" /><Relationship Type="http://schemas.openxmlformats.org/officeDocument/2006/relationships/chart" Target="/ppt/slides/charts/chart2.xml" Id="R72804585ff0a4492" /><Relationship Type="http://schemas.openxmlformats.org/officeDocument/2006/relationships/notesSlide" Target="/ppt/notesSlides/notesSlide3.xml" Id="Re98502cc6f1341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5280f08f3f4213" /><Relationship Type="http://schemas.openxmlformats.org/officeDocument/2006/relationships/chart" Target="/ppt/slides/charts/chart3.xml" Id="R34377450dd184f9d" /><Relationship Type="http://schemas.openxmlformats.org/officeDocument/2006/relationships/notesSlide" Target="/ppt/notesSlides/notesSlide4.xml" Id="R9807c817c68344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843c5c5a734972" /><Relationship Type="http://schemas.openxmlformats.org/officeDocument/2006/relationships/chart" Target="/ppt/slides/charts/chart4.xml" Id="Raef3dce682a64fd1" /><Relationship Type="http://schemas.openxmlformats.org/officeDocument/2006/relationships/notesSlide" Target="/ppt/notesSlides/notesSlide5.xml" Id="R2e63a971f4584b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500ab4e55847a1" /><Relationship Type="http://schemas.openxmlformats.org/officeDocument/2006/relationships/chart" Target="/ppt/slides/charts/chart5.xml" Id="R313c0ac36ed94849" /><Relationship Type="http://schemas.openxmlformats.org/officeDocument/2006/relationships/notesSlide" Target="/ppt/notesSlides/notesSlide6.xml" Id="Rece2c77ac5e44d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b7207b9b394f72" /><Relationship Type="http://schemas.openxmlformats.org/officeDocument/2006/relationships/chart" Target="/ppt/slides/charts/chart6.xml" Id="R7e804a65144c47f6" /><Relationship Type="http://schemas.openxmlformats.org/officeDocument/2006/relationships/notesSlide" Target="/ppt/notesSlides/notesSlide7.xml" Id="R0986d0a313c743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49222ca648487f" /><Relationship Type="http://schemas.openxmlformats.org/officeDocument/2006/relationships/chart" Target="/ppt/slides/charts/chart7.xml" Id="Rb26685241ea24176" /><Relationship Type="http://schemas.openxmlformats.org/officeDocument/2006/relationships/notesSlide" Target="/ppt/notesSlides/notesSlide8.xml" Id="Raffb31e9af3941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2695818f614249" /><Relationship Type="http://schemas.openxmlformats.org/officeDocument/2006/relationships/chart" Target="/ppt/slides/charts/chart8.xml" Id="R1365c45ce74444ad" /><Relationship Type="http://schemas.openxmlformats.org/officeDocument/2006/relationships/notesSlide" Target="/ppt/notesSlides/notesSlide9.xml" Id="R19e7fd3e977943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47D8D"/>
            </a:solidFill>
          </c:spPr>
          <c:invertIfNegative val="0"/>
          <c:cat>
            <c:strRef>
              <c:f>'Chart Data'!$A$2:$A$15</c:f>
              <c:strCache>
                <c:ptCount val="14"/>
                <c:pt idx="0">
                  <c:v>Obolo</c:v>
                </c:pt>
                <c:pt idx="1">
                  <c:v>Nikoa</c:v>
                </c:pt>
                <c:pt idx="2">
                  <c:v>Landmark (Amano)</c:v>
                </c:pt>
                <c:pt idx="3">
                  <c:v>Kerchner</c:v>
                </c:pt>
                <c:pt idx="4">
                  <c:v>Dole (Guittard)</c:v>
                </c:pt>
                <c:pt idx="5">
                  <c:v>Cuna de Piedra</c:v>
                </c:pt>
                <c:pt idx="6">
                  <c:v>Christopher Morel (Felchlin)</c:v>
                </c:pt>
                <c:pt idx="7">
                  <c:v>Chocola'te</c:v>
                </c:pt>
                <c:pt idx="8">
                  <c:v>Idilio (Felchlin)</c:v>
                </c:pt>
                <c:pt idx="9">
                  <c:v>Patric</c:v>
                </c:pt>
                <c:pt idx="10">
                  <c:v>Matale</c:v>
                </c:pt>
                <c:pt idx="11">
                  <c:v>Ocelot</c:v>
                </c:pt>
                <c:pt idx="12">
                  <c:v>Heirloom Cacao Preservation (Zokoko)</c:v>
                </c:pt>
                <c:pt idx="13">
                  <c:v>Tobago Estate (Pralus)</c:v>
                </c:pt>
              </c:strCache>
            </c:strRef>
          </c:cat>
          <c:val>
            <c:numRef>
              <c:f>'Chart Data'!$B$2:$B$15</c:f>
              <c:numCache>
                <c:formatCode>0.0</c:formatCode>
                <c:ptCount val="14"/>
                <c:pt idx="0">
                  <c:v>3.75</c:v>
                </c:pt>
                <c:pt idx="1">
                  <c:v>3.75</c:v>
                </c:pt>
                <c:pt idx="2">
                  <c:v>3.75</c:v>
                </c:pt>
                <c:pt idx="3">
                  <c:v>3.75</c:v>
                </c:pt>
                <c:pt idx="4">
                  <c:v>3.75</c:v>
                </c:pt>
                <c:pt idx="5">
                  <c:v>3.75</c:v>
                </c:pt>
                <c:pt idx="6">
                  <c:v>3.75</c:v>
                </c:pt>
                <c:pt idx="7">
                  <c:v>3.75</c:v>
                </c:pt>
                <c:pt idx="8">
                  <c:v>3.775</c:v>
                </c:pt>
                <c:pt idx="9">
                  <c:v>3.7916666666667</c:v>
                </c:pt>
                <c:pt idx="10">
                  <c:v>3.8125</c:v>
                </c:pt>
                <c:pt idx="11">
                  <c:v>3.875</c:v>
                </c:pt>
                <c:pt idx="12">
                  <c:v>3.875</c:v>
                </c:pt>
                <c:pt idx="13">
                  <c:v>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Average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47D8D"/>
            </a:solidFill>
          </c:spPr>
          <c:invertIfNegative val="0"/>
          <c:cat>
            <c:strRef>
              <c:f>'Chart Data'!$A$2:$A$14</c:f>
              <c:strCache>
                <c:ptCount val="13"/>
                <c:pt idx="0">
                  <c:v>Nicaragua</c:v>
                </c:pt>
                <c:pt idx="1">
                  <c:v>Brazil</c:v>
                </c:pt>
                <c:pt idx="2">
                  <c:v>Madagascar</c:v>
                </c:pt>
                <c:pt idx="3">
                  <c:v>Guatemala</c:v>
                </c:pt>
                <c:pt idx="4">
                  <c:v>Cuba</c:v>
                </c:pt>
                <c:pt idx="5">
                  <c:v>Papua New Guinea</c:v>
                </c:pt>
                <c:pt idx="6">
                  <c:v>Vietnam</c:v>
                </c:pt>
                <c:pt idx="7">
                  <c:v>Thailand</c:v>
                </c:pt>
                <c:pt idx="8">
                  <c:v>Congo</c:v>
                </c:pt>
                <c:pt idx="9">
                  <c:v>Solomon Islands</c:v>
                </c:pt>
                <c:pt idx="10">
                  <c:v>Sao Tome &amp; Principe</c:v>
                </c:pt>
                <c:pt idx="11">
                  <c:v>China</c:v>
                </c:pt>
                <c:pt idx="12">
                  <c:v>Tobago</c:v>
                </c:pt>
              </c:strCache>
            </c:strRef>
          </c:cat>
          <c:val>
            <c:numRef>
              <c:f>'Chart Data'!$B$2:$B$14</c:f>
              <c:numCache>
                <c:formatCode>0.0</c:formatCode>
                <c:ptCount val="13"/>
                <c:pt idx="0">
                  <c:v>3.254854368932</c:v>
                </c:pt>
                <c:pt idx="1">
                  <c:v>3.2623456790123</c:v>
                </c:pt>
                <c:pt idx="2">
                  <c:v>3.2663043478261</c:v>
                </c:pt>
                <c:pt idx="3">
                  <c:v>3.2689393939394</c:v>
                </c:pt>
                <c:pt idx="4">
                  <c:v>3.2692307692308</c:v>
                </c:pt>
                <c:pt idx="5">
                  <c:v>3.28</c:v>
                </c:pt>
                <c:pt idx="6">
                  <c:v>3.2804054054054</c:v>
                </c:pt>
                <c:pt idx="7">
                  <c:v>3.3</c:v>
                </c:pt>
                <c:pt idx="8">
                  <c:v>3.3181818181818</c:v>
                </c:pt>
                <c:pt idx="9">
                  <c:v>3.45</c:v>
                </c:pt>
                <c:pt idx="10">
                  <c:v>3.5</c:v>
                </c:pt>
                <c:pt idx="11">
                  <c:v>3.5</c:v>
                </c:pt>
                <c:pt idx="12">
                  <c:v>3.625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Average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47D8D"/>
            </a:solidFill>
          </c:spPr>
          <c:invertIfNegative val="0"/>
          <c:cat>
            <c:strRef>
              <c:f>'Chart Data'!$A$2:$A$16</c:f>
              <c:strCache>
                <c:ptCount val="15"/>
                <c:pt idx="0">
                  <c:v>74%</c:v>
                </c:pt>
                <c:pt idx="1">
                  <c:v>72%</c:v>
                </c:pt>
                <c:pt idx="2">
                  <c:v>88%</c:v>
                </c:pt>
                <c:pt idx="3">
                  <c:v>87%</c:v>
                </c:pt>
                <c:pt idx="4">
                  <c:v>86%</c:v>
                </c:pt>
                <c:pt idx="5">
                  <c:v>79%</c:v>
                </c:pt>
                <c:pt idx="6">
                  <c:v>56%</c:v>
                </c:pt>
                <c:pt idx="7">
                  <c:v>70%</c:v>
                </c:pt>
                <c:pt idx="8">
                  <c:v>68%</c:v>
                </c:pt>
                <c:pt idx="9">
                  <c:v>67%</c:v>
                </c:pt>
                <c:pt idx="10">
                  <c:v>66%</c:v>
                </c:pt>
                <c:pt idx="11">
                  <c:v>78%</c:v>
                </c:pt>
                <c:pt idx="12">
                  <c:v>69%</c:v>
                </c:pt>
                <c:pt idx="13">
                  <c:v>63%</c:v>
                </c:pt>
                <c:pt idx="14">
                  <c:v>50%</c:v>
                </c:pt>
              </c:strCache>
            </c:strRef>
          </c:cat>
          <c:val>
            <c:numRef>
              <c:f>'Chart Data'!$B$2:$B$16</c:f>
              <c:numCache>
                <c:formatCode>0.0</c:formatCode>
                <c:ptCount val="15"/>
                <c:pt idx="0">
                  <c:v>3.213768115942</c:v>
                </c:pt>
                <c:pt idx="1">
                  <c:v>3.2168284789644</c:v>
                </c:pt>
                <c:pt idx="2">
                  <c:v>3.21875</c:v>
                </c:pt>
                <c:pt idx="3">
                  <c:v>3.25</c:v>
                </c:pt>
                <c:pt idx="4">
                  <c:v>3.25</c:v>
                </c:pt>
                <c:pt idx="5">
                  <c:v>3.25</c:v>
                </c:pt>
                <c:pt idx="6">
                  <c:v>3.25</c:v>
                </c:pt>
                <c:pt idx="7">
                  <c:v>3.2654205607477</c:v>
                </c:pt>
                <c:pt idx="8">
                  <c:v>3.29</c:v>
                </c:pt>
                <c:pt idx="9">
                  <c:v>3.3357142857143</c:v>
                </c:pt>
                <c:pt idx="10">
                  <c:v>3.3482142857143</c:v>
                </c:pt>
                <c:pt idx="11">
                  <c:v>3.3863636363636</c:v>
                </c:pt>
                <c:pt idx="12">
                  <c:v>3.4615384615385</c:v>
                </c:pt>
                <c:pt idx="13">
                  <c:v>3.5</c:v>
                </c:pt>
                <c:pt idx="14">
                  <c:v>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Average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Rating</c:v>
          </c:tx>
          <c:spPr>
            <a:solidFill xmlns:a="http://schemas.openxmlformats.org/drawingml/2006/main">
              <a:srgbClr val="147D8D"/>
            </a:solidFill>
          </c:spPr>
          <c:invertIfNegative val="0"/>
          <c:cat>
            <c:numRef>
              <c:f>'Chart Data'!$A$2:$A$18</c:f>
              <c:numCache>
                <c:formatCode>General</c:formatCode>
                <c:ptCount val="17"/>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numCache>
            </c:numRef>
          </c:cat>
          <c:val>
            <c:numRef>
              <c:f>'Chart Data'!$B$2:$B$18</c:f>
              <c:numCache>
                <c:formatCode>0.0</c:formatCode>
                <c:ptCount val="17"/>
                <c:pt idx="0">
                  <c:v>3.0040322580645</c:v>
                </c:pt>
                <c:pt idx="1">
                  <c:v>3.1027397260274</c:v>
                </c:pt>
                <c:pt idx="2">
                  <c:v>3</c:v>
                </c:pt>
                <c:pt idx="3">
                  <c:v>3.0731707317073</c:v>
                </c:pt>
                <c:pt idx="4">
                  <c:v>3.1522727272727</c:v>
                </c:pt>
                <c:pt idx="5">
                  <c:v>3.2576687116564</c:v>
                </c:pt>
                <c:pt idx="6">
                  <c:v>3.180412371134</c:v>
                </c:pt>
                <c:pt idx="7">
                  <c:v>3.1967213114754</c:v>
                </c:pt>
                <c:pt idx="8">
                  <c:v>3.1892712550607</c:v>
                </c:pt>
                <c:pt idx="9">
                  <c:v>3.2447183098592</c:v>
                </c:pt>
                <c:pt idx="10">
                  <c:v>3.2281105990783</c:v>
                </c:pt>
                <c:pt idx="11">
                  <c:v>3.3619047619048</c:v>
                </c:pt>
                <c:pt idx="12">
                  <c:v>3.1918859649123</c:v>
                </c:pt>
                <c:pt idx="13">
                  <c:v>3.1347150259067</c:v>
                </c:pt>
                <c:pt idx="14">
                  <c:v>3.2561728395062</c:v>
                </c:pt>
                <c:pt idx="15">
                  <c:v>3.32</c:v>
                </c:pt>
                <c:pt idx="16">
                  <c:v>3.2844827586207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Review 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Average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Number of reviews</c:v>
          </c:tx>
          <c:spPr>
            <a:solidFill xmlns:a="http://schemas.openxmlformats.org/drawingml/2006/main">
              <a:srgbClr val="147D8D"/>
            </a:solidFill>
          </c:spPr>
          <c:invertIfNegative val="0"/>
          <c:cat>
            <c:numRef>
              <c:f>'Chart Data'!$A$2:$A$18</c:f>
              <c:numCache>
                <c:formatCode>General</c:formatCode>
                <c:ptCount val="17"/>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numCache>
            </c:numRef>
          </c:cat>
          <c:val>
            <c:numRef>
              <c:f>'Chart Data'!$B$2:$B$18</c:f>
              <c:numCache>
                <c:formatCode>0</c:formatCode>
                <c:ptCount val="17"/>
                <c:pt idx="0">
                  <c:v>62</c:v>
                </c:pt>
                <c:pt idx="1">
                  <c:v>73</c:v>
                </c:pt>
                <c:pt idx="2">
                  <c:v>92</c:v>
                </c:pt>
                <c:pt idx="3">
                  <c:v>123</c:v>
                </c:pt>
                <c:pt idx="4">
                  <c:v>110</c:v>
                </c:pt>
                <c:pt idx="5">
                  <c:v>163</c:v>
                </c:pt>
                <c:pt idx="6">
                  <c:v>194</c:v>
                </c:pt>
                <c:pt idx="7">
                  <c:v>183</c:v>
                </c:pt>
                <c:pt idx="8">
                  <c:v>247</c:v>
                </c:pt>
                <c:pt idx="9">
                  <c:v>284</c:v>
                </c:pt>
                <c:pt idx="10">
                  <c:v>217</c:v>
                </c:pt>
                <c:pt idx="11">
                  <c:v>105</c:v>
                </c:pt>
                <c:pt idx="12">
                  <c:v>228</c:v>
                </c:pt>
                <c:pt idx="13">
                  <c:v>193</c:v>
                </c:pt>
                <c:pt idx="14">
                  <c:v>81</c:v>
                </c:pt>
                <c:pt idx="15">
                  <c:v>175</c:v>
                </c:pt>
                <c:pt idx="16">
                  <c:v>58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Review 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Number of reviews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47D8D"/>
            </a:solidFill>
          </c:spPr>
          <c:invertIfNegative val="0"/>
          <c:cat>
            <c:strRef>
              <c:f>'Chart Data'!$A$2:$A$15</c:f>
              <c:strCache>
                <c:ptCount val="14"/>
                <c:pt idx="0">
                  <c:v>Benoit Nihant</c:v>
                </c:pt>
                <c:pt idx="1">
                  <c:v>Soma</c:v>
                </c:pt>
                <c:pt idx="2">
                  <c:v>Qantu</c:v>
                </c:pt>
                <c:pt idx="3">
                  <c:v>Oialla by Bojessen (Malmo)</c:v>
                </c:pt>
                <c:pt idx="4">
                  <c:v>Fresh Coast</c:v>
                </c:pt>
                <c:pt idx="5">
                  <c:v>Captain Pembleton</c:v>
                </c:pt>
                <c:pt idx="6">
                  <c:v>Cacaosuyo</c:v>
                </c:pt>
                <c:pt idx="7">
                  <c:v>Fresh Coast aka Just Good Choc.</c:v>
                </c:pt>
                <c:pt idx="8">
                  <c:v>Cacao Sampaka</c:v>
                </c:pt>
                <c:pt idx="9">
                  <c:v>Madecasse (Cinagra)</c:v>
                </c:pt>
                <c:pt idx="10">
                  <c:v>Chokola</c:v>
                </c:pt>
                <c:pt idx="11">
                  <c:v>Utopick</c:v>
                </c:pt>
                <c:pt idx="12">
                  <c:v>Un Dimanche A Paris</c:v>
                </c:pt>
                <c:pt idx="13">
                  <c:v>Timo A. Meyer</c:v>
                </c:pt>
              </c:strCache>
            </c:strRef>
          </c:cat>
          <c:val>
            <c:numRef>
              <c:f>'Chart Data'!$B$2:$B$15</c:f>
              <c:numCache>
                <c:formatCode>0.0</c:formatCode>
                <c:ptCount val="14"/>
                <c:pt idx="0">
                  <c:v>3.59375</c:v>
                </c:pt>
                <c:pt idx="1">
                  <c:v>3.5964912280702</c:v>
                </c:pt>
                <c:pt idx="2">
                  <c:v>3.6</c:v>
                </c:pt>
                <c:pt idx="3">
                  <c:v>3.625</c:v>
                </c:pt>
                <c:pt idx="4">
                  <c:v>3.625</c:v>
                </c:pt>
                <c:pt idx="5">
                  <c:v>3.625</c:v>
                </c:pt>
                <c:pt idx="6">
                  <c:v>3.625</c:v>
                </c:pt>
                <c:pt idx="7">
                  <c:v>3.6666666666667</c:v>
                </c:pt>
                <c:pt idx="8">
                  <c:v>3.6666666666667</c:v>
                </c:pt>
                <c:pt idx="9">
                  <c:v>3.6875</c:v>
                </c:pt>
                <c:pt idx="10">
                  <c:v>3.7083333333333</c:v>
                </c:pt>
                <c:pt idx="11">
                  <c:v>3.75</c:v>
                </c:pt>
                <c:pt idx="12">
                  <c:v>3.75</c:v>
                </c:pt>
                <c:pt idx="13">
                  <c:v>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Average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47D8D"/>
            </a:solidFill>
          </c:spPr>
          <c:invertIfNegative val="0"/>
          <c:cat>
            <c:strRef>
              <c:f>'Chart Data'!$A$2:$A$15</c:f>
              <c:strCache>
                <c:ptCount val="14"/>
                <c:pt idx="0">
                  <c:v>Smooth Chocolator, The</c:v>
                </c:pt>
                <c:pt idx="1">
                  <c:v>Arete</c:v>
                </c:pt>
                <c:pt idx="2">
                  <c:v>Christopher Elbow</c:v>
                </c:pt>
                <c:pt idx="3">
                  <c:v>Ritual</c:v>
                </c:pt>
                <c:pt idx="4">
                  <c:v>Brasstown aka It's Chocolate</c:v>
                </c:pt>
                <c:pt idx="5">
                  <c:v>Friis Holm</c:v>
                </c:pt>
                <c:pt idx="6">
                  <c:v>Zokoko</c:v>
                </c:pt>
                <c:pt idx="7">
                  <c:v>White Label aka Mutari</c:v>
                </c:pt>
                <c:pt idx="8">
                  <c:v>Potomac</c:v>
                </c:pt>
                <c:pt idx="9">
                  <c:v>Brasstown</c:v>
                </c:pt>
                <c:pt idx="10">
                  <c:v>Acalli</c:v>
                </c:pt>
                <c:pt idx="11">
                  <c:v>Bar Au Chocolat</c:v>
                </c:pt>
                <c:pt idx="12">
                  <c:v>Raphio</c:v>
                </c:pt>
                <c:pt idx="13">
                  <c:v>Durci</c:v>
                </c:pt>
              </c:strCache>
            </c:strRef>
          </c:cat>
          <c:val>
            <c:numRef>
              <c:f>'Chart Data'!$B$2:$B$15</c:f>
              <c:numCache>
                <c:formatCode>0.0</c:formatCode>
                <c:ptCount val="14"/>
                <c:pt idx="0">
                  <c:v>3.5147058823529</c:v>
                </c:pt>
                <c:pt idx="1">
                  <c:v>3.53125</c:v>
                </c:pt>
                <c:pt idx="2">
                  <c:v>3.5357142857143</c:v>
                </c:pt>
                <c:pt idx="3">
                  <c:v>3.5384615384615</c:v>
                </c:pt>
                <c:pt idx="4">
                  <c:v>3.5454545454545</c:v>
                </c:pt>
                <c:pt idx="5">
                  <c:v>3.546875</c:v>
                </c:pt>
                <c:pt idx="6">
                  <c:v>3.55</c:v>
                </c:pt>
                <c:pt idx="7">
                  <c:v>3.55</c:v>
                </c:pt>
                <c:pt idx="8">
                  <c:v>3.55</c:v>
                </c:pt>
                <c:pt idx="9">
                  <c:v>3.5625</c:v>
                </c:pt>
                <c:pt idx="10">
                  <c:v>3.5625</c:v>
                </c:pt>
                <c:pt idx="11">
                  <c:v>3.5714285714286</c:v>
                </c:pt>
                <c:pt idx="12">
                  <c:v>3.5833333333333</c:v>
                </c:pt>
                <c:pt idx="13">
                  <c:v>3.5833333333333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Average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47D8D"/>
            </a:solidFill>
          </c:spPr>
          <c:invertIfNegative val="0"/>
          <c:cat>
            <c:strRef>
              <c:f>'Chart Data'!$A$2:$A$16</c:f>
              <c:strCache>
                <c:ptCount val="15"/>
                <c:pt idx="0">
                  <c:v>85%</c:v>
                </c:pt>
                <c:pt idx="1">
                  <c:v>83%</c:v>
                </c:pt>
                <c:pt idx="2">
                  <c:v>60%</c:v>
                </c:pt>
                <c:pt idx="3">
                  <c:v>76%</c:v>
                </c:pt>
                <c:pt idx="4">
                  <c:v>82%</c:v>
                </c:pt>
                <c:pt idx="5">
                  <c:v>71%</c:v>
                </c:pt>
                <c:pt idx="6">
                  <c:v>80%</c:v>
                </c:pt>
                <c:pt idx="7">
                  <c:v>77%</c:v>
                </c:pt>
                <c:pt idx="8">
                  <c:v>73.50%</c:v>
                </c:pt>
                <c:pt idx="9">
                  <c:v>71.50%</c:v>
                </c:pt>
                <c:pt idx="10">
                  <c:v>58%</c:v>
                </c:pt>
                <c:pt idx="11">
                  <c:v>75%</c:v>
                </c:pt>
                <c:pt idx="12">
                  <c:v>65%</c:v>
                </c:pt>
                <c:pt idx="13">
                  <c:v>64%</c:v>
                </c:pt>
                <c:pt idx="14">
                  <c:v>73%</c:v>
                </c:pt>
              </c:strCache>
            </c:strRef>
          </c:cat>
          <c:val>
            <c:numRef>
              <c:f>'Chart Data'!$B$2:$B$16</c:f>
              <c:numCache>
                <c:formatCode>0.0</c:formatCode>
                <c:ptCount val="15"/>
                <c:pt idx="0">
                  <c:v>3</c:v>
                </c:pt>
                <c:pt idx="1">
                  <c:v>3</c:v>
                </c:pt>
                <c:pt idx="2">
                  <c:v>3.0054347826087</c:v>
                </c:pt>
                <c:pt idx="3">
                  <c:v>3.0214285714286</c:v>
                </c:pt>
                <c:pt idx="4">
                  <c:v>3.0416666666667</c:v>
                </c:pt>
                <c:pt idx="5">
                  <c:v>3.0681818181818</c:v>
                </c:pt>
                <c:pt idx="6">
                  <c:v>3.0861111111111</c:v>
                </c:pt>
                <c:pt idx="7">
                  <c:v>3.0988372093023</c:v>
                </c:pt>
                <c:pt idx="8">
                  <c:v>3.125</c:v>
                </c:pt>
                <c:pt idx="9">
                  <c:v>3.125</c:v>
                </c:pt>
                <c:pt idx="10">
                  <c:v>3.125</c:v>
                </c:pt>
                <c:pt idx="11">
                  <c:v>3.161858974359</c:v>
                </c:pt>
                <c:pt idx="12">
                  <c:v>3.1639784946237</c:v>
                </c:pt>
                <c:pt idx="13">
                  <c:v>3.1959459459459</c:v>
                </c:pt>
                <c:pt idx="14">
                  <c:v>3.1977611940299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Average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0EF7130D-32EC-49FC-82C6-12BFCD31BA1E}"/>
              </a:ext>
            </a:extLst>
          </p:cNvPr>
          <p:cNvPicPr>
            <a:picLocks xmlns:a="http://schemas.openxmlformats.org/drawingml/2006/main" noChangeAspect="1"/>
          </p:cNvPicPr>
          <p:nvPr/>
        </p:nvPicPr>
        <p:blipFill>
          <a:blip xmlns:r="http://schemas.openxmlformats.org/officeDocument/2006/relationships" xmlns:a="http://schemas.openxmlformats.org/drawingml/2006/main" r:embed="R9888ce2228a3449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7EC2434-DFA4-4E51-AE68-DE8A78B0442F}"/>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Arial"/>
                <a:ea typeface="Arial"/>
                <a:cs typeface="Arial"/>
              </a:defRPr>
            </a:defPPr>
          </a:lstStyle>
          <a:p xmlns:a="http://schemas.openxmlformats.org/drawingml/2006/main">
            <a:pPr>
              <a:buNone/>
              <a:defRPr sz="3300" b="1">
                <a:solidFill>
                  <a:srgbClr val="16324F"/>
                </a:solidFill>
                <a:latin typeface="Arial"/>
                <a:ea typeface="Arial"/>
                <a:cs typeface="Arial"/>
              </a:defRPr>
            </a:pPr>
            <a:r>
              <a:rPr sz="3300" b="1">
                <a:solidFill>
                  <a:srgbClr val="16324F"/>
                </a:solidFill>
                <a:latin typeface="Arial"/>
                <a:ea typeface="Arial"/>
                <a:cs typeface="Arial"/>
              </a:rPr>
              <a:t>Chocolate bar reviews</a:t>
            </a:r>
          </a:p>
        </p:txBody>
      </p:sp>
      <p:sp>
        <p:nvSpPr>
          <p:cNvPr id="2" name="">
            <a:extLst xmlns:a="http://schemas.openxmlformats.org/drawingml/2006/main">
              <a:ext uri="{FF2B5EF4-FFF2-40B4-BE49-F238E27FC236}">
                <a16:creationId xmlns:a16="http://schemas.microsoft.com/office/drawing/2014/main" id="{7AA08F38-FE23-43F9-B4FC-03294FF8B311}"/>
              </a:ext>
            </a:extLst>
          </p:cNvPr>
          <p:cNvSpPr>
            <a:spLocks xmlns:a="http://schemas.openxmlformats.org/drawingml/2006/main" noGrp="1"/>
          </p:cNvSpPr>
          <p:nvPr/>
        </p:nvSpPr>
        <p:spPr>
          <a:xfrm xmlns:a="http://schemas.openxmlformats.org/drawingml/2006/main">
            <a:off x="685800" y="20002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6324F"/>
                </a:solidFill>
                <a:latin typeface="Arial"/>
                <a:ea typeface="Arial"/>
                <a:cs typeface="Arial"/>
              </a:defRPr>
            </a:defPPr>
          </a:lstStyle>
          <a:p xmlns:a="http://schemas.openxmlformats.org/drawingml/2006/main">
            <a:pPr>
              <a:buNone/>
              <a:defRPr sz="2400" b="0">
                <a:solidFill>
                  <a:srgbClr val="16324F"/>
                </a:solidFill>
                <a:latin typeface="Arial"/>
                <a:ea typeface="Arial"/>
                <a:cs typeface="Arial"/>
              </a:defRPr>
            </a:pPr>
            <a:r>
              <a:rPr sz="2400" b="0">
                <a:solidFill>
                  <a:srgbClr val="16324F"/>
                </a:solidFill>
                <a:latin typeface="Arial"/>
                <a:ea typeface="Arial"/>
                <a:cs typeface="Arial"/>
              </a:rPr>
              <a:t>[Name and course]</a:t>
            </a:r>
          </a:p>
        </p:txBody>
      </p:sp>
    </p:spTree>
    <p:extLst>
      <p:ext uri="{BB962C8B-B14F-4D97-AF65-F5344CB8AC3E}">
        <p14:creationId xmlns:p14="http://schemas.microsoft.com/office/powerpoint/2010/main" val="5787373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718571-5100-4DFC-986F-837CA1611E25}"/>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Arial"/>
                <a:ea typeface="Arial"/>
                <a:cs typeface="Arial"/>
              </a:defRPr>
            </a:defPPr>
          </a:lstStyle>
          <a:p xmlns:a="http://schemas.openxmlformats.org/drawingml/2006/main">
            <a:pPr>
              <a:buNone/>
              <a:defRPr sz="3300" b="1">
                <a:solidFill>
                  <a:srgbClr val="16324F"/>
                </a:solidFill>
                <a:latin typeface="Arial"/>
                <a:ea typeface="Arial"/>
                <a:cs typeface="Arial"/>
              </a:defRPr>
            </a:pPr>
            <a:r>
              <a:rPr sz="3300" b="1">
                <a:solidFill>
                  <a:srgbClr val="16324F"/>
                </a:solidFill>
                <a:latin typeface="Arial"/>
                <a:ea typeface="Arial"/>
                <a:cs typeface="Arial"/>
              </a:rPr>
              <a:t>Company ratings: ranks 1–14</a:t>
            </a:r>
          </a:p>
        </p:txBody>
      </p:sp>
      <p:sp>
        <p:nvSpPr>
          <p:cNvPr id="2" name="">
            <a:extLst xmlns:a="http://schemas.openxmlformats.org/drawingml/2006/main">
              <a:ext uri="{FF2B5EF4-FFF2-40B4-BE49-F238E27FC236}">
                <a16:creationId xmlns:a16="http://schemas.microsoft.com/office/drawing/2014/main" id="{CB46A91F-1266-4ECB-A0B9-9990062C530C}"/>
              </a:ext>
            </a:extLst>
          </p:cNvPr>
          <p:cNvSpPr>
            <a:spLocks xmlns:a="http://schemas.openxmlformats.org/drawingml/2006/main" noGrp="1"/>
          </p:cNvSpPr>
          <p:nvPr/>
        </p:nvSpPr>
        <p:spPr>
          <a:xfrm xmlns:a="http://schemas.openxmlformats.org/drawingml/2006/main">
            <a:off x="685800" y="1952625"/>
            <a:ext cx="6286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3717D"/>
                </a:solidFill>
                <a:latin typeface="Arial"/>
                <a:ea typeface="Arial"/>
                <a:cs typeface="Arial"/>
              </a:defRPr>
            </a:defPPr>
          </a:lstStyle>
          <a:p xmlns:a="http://schemas.openxmlformats.org/drawingml/2006/main">
            <a:pPr>
              <a:buNone/>
              <a:defRPr sz="2400" b="0">
                <a:solidFill>
                  <a:srgbClr val="53717D"/>
                </a:solidFill>
                <a:latin typeface="Arial"/>
                <a:ea typeface="Arial"/>
                <a:cs typeface="Arial"/>
              </a:defRPr>
            </a:pPr>
            <a:r>
              <a:rPr sz="2400" b="0">
                <a:solidFill>
                  <a:srgbClr val="53717D"/>
                </a:solidFill>
                <a:latin typeface="Arial"/>
                <a:ea typeface="Arial"/>
                <a:cs typeface="Arial"/>
              </a:rPr>
              <a:t/>
            </a:r>
          </a:p>
        </p:txBody>
      </p:sp>
      <p:sp>
        <p:nvSpPr>
          <p:cNvPr id="3" name="">
            <a:extLst xmlns:a="http://schemas.openxmlformats.org/drawingml/2006/main">
              <a:ext uri="{FF2B5EF4-FFF2-40B4-BE49-F238E27FC236}">
                <a16:creationId xmlns:a16="http://schemas.microsoft.com/office/drawing/2014/main" id="{83DEF5EC-6579-4757-B27D-1EABBB399D56}"/>
              </a:ext>
            </a:extLst>
          </p:cNvPr>
          <p:cNvSpPr>
            <a:spLocks xmlns:a="http://schemas.openxmlformats.org/drawingml/2006/main" noGrp="1"/>
          </p:cNvSpPr>
          <p:nvPr/>
        </p:nvSpPr>
        <p:spPr>
          <a:xfrm xmlns:a="http://schemas.openxmlformats.org/drawingml/2006/main">
            <a:off x="7620000" y="1952625"/>
            <a:ext cx="3762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stStyle>
          <a:p xmlns:a="http://schemas.openxmlformats.org/drawingml/2006/main">
            <a:pPr>
              <a:buNone/>
              <a:defRPr sz="2100" b="0">
                <a:solidFill>
                  <a:srgbClr val="16324F"/>
                </a:solidFill>
                <a:latin typeface="Arial"/>
                <a:ea typeface="Arial"/>
                <a:cs typeface="Arial"/>
              </a:defRPr>
            </a:pPr>
            <a:r>
              <a:rPr sz="2100" b="0">
                <a:solidFill>
                  <a:srgbClr val="16324F"/>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DB8B5777-9D67-4F32-89ED-A21A864AE865}"/>
              </a:ext>
            </a:extLst>
          </p:cNvPr>
          <p:cNvSpPr>
            <a:spLocks xmlns:a="http://schemas.openxmlformats.org/drawingml/2006/main" noGrp="1"/>
          </p:cNvSpPr>
          <p:nvPr/>
        </p:nvSpPr>
        <p:spPr>
          <a:xfrm xmlns:a="http://schemas.openxmlformats.org/drawingml/2006/main">
            <a:off x="685800" y="6191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717D"/>
                </a:solidFill>
                <a:latin typeface="Arial"/>
                <a:ea typeface="Arial"/>
                <a:cs typeface="Arial"/>
              </a:defRPr>
            </a:defPPr>
          </a:lstStyle>
          <a:p xmlns:a="http://schemas.openxmlformats.org/drawingml/2006/main">
            <a:pPr>
              <a:buNone/>
              <a:defRPr sz="1500" b="0">
                <a:solidFill>
                  <a:srgbClr val="53717D"/>
                </a:solidFill>
                <a:latin typeface="Arial"/>
                <a:ea typeface="Arial"/>
                <a:cs typeface="Arial"/>
              </a:defRPr>
            </a:pPr>
            <a:r>
              <a:rPr sz="1500" b="0">
                <a:solidFill>
                  <a:srgbClr val="53717D"/>
                </a:solidFill>
                <a:latin typeface="Arial"/>
                <a:ea typeface="Arial"/>
                <a:cs typeface="Arial"/>
              </a:rPr>
              <a:t>Company group averages &gt;3.5; global ranking continues on slides 7 and 8. Filters use unrounded means; labels show two decimals.</a:t>
            </a:r>
          </a:p>
        </p:txBody>
      </p:sp>
      <p:graphicFrame>
        <p:nvGraphicFramePr>
          <p:cNvPr id="6" name="Chart">
            <a:extLst xmlns:a="http://schemas.openxmlformats.org/drawingml/2006/main">
              <a:ext uri="{FF2B5EF4-FFF2-40B4-BE49-F238E27FC236}">
                <a16:creationId xmlns:a16="http://schemas.microsoft.com/office/drawing/2014/main" id="{AC628117-9FAE-4267-A343-B9DF417DB597}"/>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c6e31fbd850144b4"/>
          </a:graphicData>
        </a:graphic>
      </p:graphicFrame>
    </p:spTree>
    <p:extLst>
      <p:ext uri="{BB962C8B-B14F-4D97-AF65-F5344CB8AC3E}">
        <p14:creationId xmlns:p14="http://schemas.microsoft.com/office/powerpoint/2010/main" val="4276998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48D2CF-6DC7-43C4-92D2-8BDDB83183F7}"/>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Arial"/>
                <a:ea typeface="Arial"/>
                <a:cs typeface="Arial"/>
              </a:defRPr>
            </a:defPPr>
          </a:lstStyle>
          <a:p xmlns:a="http://schemas.openxmlformats.org/drawingml/2006/main">
            <a:pPr>
              <a:buNone/>
              <a:defRPr sz="3300" b="1">
                <a:solidFill>
                  <a:srgbClr val="16324F"/>
                </a:solidFill>
                <a:latin typeface="Arial"/>
                <a:ea typeface="Arial"/>
                <a:cs typeface="Arial"/>
              </a:defRPr>
            </a:pPr>
            <a:r>
              <a:rPr sz="3300" b="1">
                <a:solidFill>
                  <a:srgbClr val="16324F"/>
                </a:solidFill>
                <a:latin typeface="Arial"/>
                <a:ea typeface="Arial"/>
                <a:cs typeface="Arial"/>
              </a:rPr>
              <a:t>Bean-origin ratings</a:t>
            </a:r>
          </a:p>
        </p:txBody>
      </p:sp>
      <p:sp>
        <p:nvSpPr>
          <p:cNvPr id="2" name="">
            <a:extLst xmlns:a="http://schemas.openxmlformats.org/drawingml/2006/main">
              <a:ext uri="{FF2B5EF4-FFF2-40B4-BE49-F238E27FC236}">
                <a16:creationId xmlns:a16="http://schemas.microsoft.com/office/drawing/2014/main" id="{99FA4909-3200-4781-91CD-83C68A38B5DD}"/>
              </a:ext>
            </a:extLst>
          </p:cNvPr>
          <p:cNvSpPr>
            <a:spLocks xmlns:a="http://schemas.openxmlformats.org/drawingml/2006/main" noGrp="1"/>
          </p:cNvSpPr>
          <p:nvPr/>
        </p:nvSpPr>
        <p:spPr>
          <a:xfrm xmlns:a="http://schemas.openxmlformats.org/drawingml/2006/main">
            <a:off x="685800" y="1952625"/>
            <a:ext cx="6286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3717D"/>
                </a:solidFill>
                <a:latin typeface="Arial"/>
                <a:ea typeface="Arial"/>
                <a:cs typeface="Arial"/>
              </a:defRPr>
            </a:defPPr>
          </a:lstStyle>
          <a:p xmlns:a="http://schemas.openxmlformats.org/drawingml/2006/main">
            <a:pPr>
              <a:buNone/>
              <a:defRPr sz="2400" b="0">
                <a:solidFill>
                  <a:srgbClr val="53717D"/>
                </a:solidFill>
                <a:latin typeface="Arial"/>
                <a:ea typeface="Arial"/>
                <a:cs typeface="Arial"/>
              </a:defRPr>
            </a:pPr>
            <a:r>
              <a:rPr sz="2400" b="0">
                <a:solidFill>
                  <a:srgbClr val="53717D"/>
                </a:solidFill>
                <a:latin typeface="Arial"/>
                <a:ea typeface="Arial"/>
                <a:cs typeface="Arial"/>
              </a:rPr>
              <a:t/>
            </a:r>
          </a:p>
        </p:txBody>
      </p:sp>
      <p:sp>
        <p:nvSpPr>
          <p:cNvPr id="3" name="">
            <a:extLst xmlns:a="http://schemas.openxmlformats.org/drawingml/2006/main">
              <a:ext uri="{FF2B5EF4-FFF2-40B4-BE49-F238E27FC236}">
                <a16:creationId xmlns:a16="http://schemas.microsoft.com/office/drawing/2014/main" id="{0377BDE4-44E6-49D0-8835-FB2634E1AF5D}"/>
              </a:ext>
            </a:extLst>
          </p:cNvPr>
          <p:cNvSpPr>
            <a:spLocks xmlns:a="http://schemas.openxmlformats.org/drawingml/2006/main" noGrp="1"/>
          </p:cNvSpPr>
          <p:nvPr/>
        </p:nvSpPr>
        <p:spPr>
          <a:xfrm xmlns:a="http://schemas.openxmlformats.org/drawingml/2006/main">
            <a:off x="7620000" y="1952625"/>
            <a:ext cx="3762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stStyle>
          <a:p xmlns:a="http://schemas.openxmlformats.org/drawingml/2006/main">
            <a:pPr>
              <a:buNone/>
              <a:defRPr sz="2100" b="0">
                <a:solidFill>
                  <a:srgbClr val="16324F"/>
                </a:solidFill>
                <a:latin typeface="Arial"/>
                <a:ea typeface="Arial"/>
                <a:cs typeface="Arial"/>
              </a:defRPr>
            </a:pPr>
            <a:r>
              <a:rPr sz="2100" b="0">
                <a:solidFill>
                  <a:srgbClr val="16324F"/>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304AAD45-F352-4D58-B00E-49C63E7653BC}"/>
              </a:ext>
            </a:extLst>
          </p:cNvPr>
          <p:cNvSpPr>
            <a:spLocks xmlns:a="http://schemas.openxmlformats.org/drawingml/2006/main" noGrp="1"/>
          </p:cNvSpPr>
          <p:nvPr/>
        </p:nvSpPr>
        <p:spPr>
          <a:xfrm xmlns:a="http://schemas.openxmlformats.org/drawingml/2006/main">
            <a:off x="685800" y="6191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717D"/>
                </a:solidFill>
                <a:latin typeface="Arial"/>
                <a:ea typeface="Arial"/>
                <a:cs typeface="Arial"/>
              </a:defRPr>
            </a:defPPr>
          </a:lstStyle>
          <a:p xmlns:a="http://schemas.openxmlformats.org/drawingml/2006/main">
            <a:pPr>
              <a:buNone/>
              <a:defRPr sz="1500" b="0">
                <a:solidFill>
                  <a:srgbClr val="53717D"/>
                </a:solidFill>
                <a:latin typeface="Arial"/>
                <a:ea typeface="Arial"/>
                <a:cs typeface="Arial"/>
              </a:defRPr>
            </a:pPr>
            <a:r>
              <a:rPr sz="1500" b="0">
                <a:solidFill>
                  <a:srgbClr val="53717D"/>
                </a:solidFill>
                <a:latin typeface="Arial"/>
                <a:ea typeface="Arial"/>
                <a:cs typeface="Arial"/>
              </a:rPr>
              <a:t>Bean-origin group averages &gt;3.25; all thirteen qualifying groups shown. Filters use unrounded means; labels show two decimals.</a:t>
            </a:r>
          </a:p>
        </p:txBody>
      </p:sp>
      <p:graphicFrame>
        <p:nvGraphicFramePr>
          <p:cNvPr id="6" name="Chart">
            <a:extLst xmlns:a="http://schemas.openxmlformats.org/drawingml/2006/main">
              <a:ext uri="{FF2B5EF4-FFF2-40B4-BE49-F238E27FC236}">
                <a16:creationId xmlns:a16="http://schemas.microsoft.com/office/drawing/2014/main" id="{360309D4-C025-4E98-A97B-2CDF72B9D0B7}"/>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72804585ff0a4492"/>
          </a:graphicData>
        </a:graphic>
      </p:graphicFrame>
    </p:spTree>
    <p:extLst>
      <p:ext uri="{BB962C8B-B14F-4D97-AF65-F5344CB8AC3E}">
        <p14:creationId xmlns:p14="http://schemas.microsoft.com/office/powerpoint/2010/main" val="20156284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A0614D-D8A4-4F98-9169-29C6C404D396}"/>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Arial"/>
                <a:ea typeface="Arial"/>
                <a:cs typeface="Arial"/>
              </a:defRPr>
            </a:defPPr>
          </a:lstStyle>
          <a:p xmlns:a="http://schemas.openxmlformats.org/drawingml/2006/main">
            <a:pPr>
              <a:buNone/>
              <a:defRPr sz="3300" b="1">
                <a:solidFill>
                  <a:srgbClr val="16324F"/>
                </a:solidFill>
                <a:latin typeface="Arial"/>
                <a:ea typeface="Arial"/>
                <a:cs typeface="Arial"/>
              </a:defRPr>
            </a:pPr>
            <a:r>
              <a:rPr sz="3300" b="1">
                <a:solidFill>
                  <a:srgbClr val="16324F"/>
                </a:solidFill>
                <a:latin typeface="Arial"/>
                <a:ea typeface="Arial"/>
                <a:cs typeface="Arial"/>
              </a:rPr>
              <a:t>Cocoa percentages: ranks 1–15</a:t>
            </a:r>
          </a:p>
        </p:txBody>
      </p:sp>
      <p:sp>
        <p:nvSpPr>
          <p:cNvPr id="2" name="">
            <a:extLst xmlns:a="http://schemas.openxmlformats.org/drawingml/2006/main">
              <a:ext uri="{FF2B5EF4-FFF2-40B4-BE49-F238E27FC236}">
                <a16:creationId xmlns:a16="http://schemas.microsoft.com/office/drawing/2014/main" id="{23C48673-5B51-458E-9070-E2A8893D87C4}"/>
              </a:ext>
            </a:extLst>
          </p:cNvPr>
          <p:cNvSpPr>
            <a:spLocks xmlns:a="http://schemas.openxmlformats.org/drawingml/2006/main" noGrp="1"/>
          </p:cNvSpPr>
          <p:nvPr/>
        </p:nvSpPr>
        <p:spPr>
          <a:xfrm xmlns:a="http://schemas.openxmlformats.org/drawingml/2006/main">
            <a:off x="685800" y="1952625"/>
            <a:ext cx="6286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3717D"/>
                </a:solidFill>
                <a:latin typeface="Arial"/>
                <a:ea typeface="Arial"/>
                <a:cs typeface="Arial"/>
              </a:defRPr>
            </a:defPPr>
          </a:lstStyle>
          <a:p xmlns:a="http://schemas.openxmlformats.org/drawingml/2006/main">
            <a:pPr>
              <a:buNone/>
              <a:defRPr sz="2400" b="0">
                <a:solidFill>
                  <a:srgbClr val="53717D"/>
                </a:solidFill>
                <a:latin typeface="Arial"/>
                <a:ea typeface="Arial"/>
                <a:cs typeface="Arial"/>
              </a:defRPr>
            </a:pPr>
            <a:r>
              <a:rPr sz="2400" b="0">
                <a:solidFill>
                  <a:srgbClr val="53717D"/>
                </a:solidFill>
                <a:latin typeface="Arial"/>
                <a:ea typeface="Arial"/>
                <a:cs typeface="Arial"/>
              </a:rPr>
              <a:t/>
            </a:r>
          </a:p>
        </p:txBody>
      </p:sp>
      <p:sp>
        <p:nvSpPr>
          <p:cNvPr id="3" name="">
            <a:extLst xmlns:a="http://schemas.openxmlformats.org/drawingml/2006/main">
              <a:ext uri="{FF2B5EF4-FFF2-40B4-BE49-F238E27FC236}">
                <a16:creationId xmlns:a16="http://schemas.microsoft.com/office/drawing/2014/main" id="{03EA1687-89DD-453A-882B-7151AAC7D08E}"/>
              </a:ext>
            </a:extLst>
          </p:cNvPr>
          <p:cNvSpPr>
            <a:spLocks xmlns:a="http://schemas.openxmlformats.org/drawingml/2006/main" noGrp="1"/>
          </p:cNvSpPr>
          <p:nvPr/>
        </p:nvSpPr>
        <p:spPr>
          <a:xfrm xmlns:a="http://schemas.openxmlformats.org/drawingml/2006/main">
            <a:off x="7620000" y="1952625"/>
            <a:ext cx="3762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stStyle>
          <a:p xmlns:a="http://schemas.openxmlformats.org/drawingml/2006/main">
            <a:pPr>
              <a:buNone/>
              <a:defRPr sz="2100" b="0">
                <a:solidFill>
                  <a:srgbClr val="16324F"/>
                </a:solidFill>
                <a:latin typeface="Arial"/>
                <a:ea typeface="Arial"/>
                <a:cs typeface="Arial"/>
              </a:defRPr>
            </a:pPr>
            <a:r>
              <a:rPr sz="2100" b="0">
                <a:solidFill>
                  <a:srgbClr val="16324F"/>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A76A06F9-A560-4AEB-B19E-6303E8C653A1}"/>
              </a:ext>
            </a:extLst>
          </p:cNvPr>
          <p:cNvSpPr>
            <a:spLocks xmlns:a="http://schemas.openxmlformats.org/drawingml/2006/main" noGrp="1"/>
          </p:cNvSpPr>
          <p:nvPr/>
        </p:nvSpPr>
        <p:spPr>
          <a:xfrm xmlns:a="http://schemas.openxmlformats.org/drawingml/2006/main">
            <a:off x="685800" y="6191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717D"/>
                </a:solidFill>
                <a:latin typeface="Arial"/>
                <a:ea typeface="Arial"/>
                <a:cs typeface="Arial"/>
              </a:defRPr>
            </a:defPPr>
          </a:lstStyle>
          <a:p xmlns:a="http://schemas.openxmlformats.org/drawingml/2006/main">
            <a:pPr>
              <a:buNone/>
              <a:defRPr sz="1500" b="0">
                <a:solidFill>
                  <a:srgbClr val="53717D"/>
                </a:solidFill>
                <a:latin typeface="Arial"/>
                <a:ea typeface="Arial"/>
                <a:cs typeface="Arial"/>
              </a:defRPr>
            </a:pPr>
            <a:r>
              <a:rPr sz="1500" b="0">
                <a:solidFill>
                  <a:srgbClr val="53717D"/>
                </a:solidFill>
                <a:latin typeface="Arial"/>
                <a:ea typeface="Arial"/>
                <a:cs typeface="Arial"/>
              </a:rPr>
              <a:t>Group averages &gt;=3.0, not Cocoa Percent &gt;=3.0; ranking continues on slide 9. Filters use unrounded means; labels show two decimals.</a:t>
            </a:r>
          </a:p>
        </p:txBody>
      </p:sp>
      <p:graphicFrame>
        <p:nvGraphicFramePr>
          <p:cNvPr id="6" name="Chart">
            <a:extLst xmlns:a="http://schemas.openxmlformats.org/drawingml/2006/main">
              <a:ext uri="{FF2B5EF4-FFF2-40B4-BE49-F238E27FC236}">
                <a16:creationId xmlns:a16="http://schemas.microsoft.com/office/drawing/2014/main" id="{DCAD6C2B-633D-4C11-BFC5-8F865C5C5531}"/>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34377450dd184f9d"/>
          </a:graphicData>
        </a:graphic>
      </p:graphicFrame>
    </p:spTree>
    <p:extLst>
      <p:ext uri="{BB962C8B-B14F-4D97-AF65-F5344CB8AC3E}">
        <p14:creationId xmlns:p14="http://schemas.microsoft.com/office/powerpoint/2010/main" val="3489837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C1A6EF-3FA9-4F23-801D-AFD07673C17B}"/>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Arial"/>
                <a:ea typeface="Arial"/>
                <a:cs typeface="Arial"/>
              </a:defRPr>
            </a:defPPr>
          </a:lstStyle>
          <a:p xmlns:a="http://schemas.openxmlformats.org/drawingml/2006/main">
            <a:pPr>
              <a:buNone/>
              <a:defRPr sz="3300" b="1">
                <a:solidFill>
                  <a:srgbClr val="16324F"/>
                </a:solidFill>
                <a:latin typeface="Arial"/>
                <a:ea typeface="Arial"/>
                <a:cs typeface="Arial"/>
              </a:defRPr>
            </a:pPr>
            <a:r>
              <a:rPr sz="3300" b="1">
                <a:solidFill>
                  <a:srgbClr val="16324F"/>
                </a:solidFill>
                <a:latin typeface="Arial"/>
                <a:ea typeface="Arial"/>
                <a:cs typeface="Arial"/>
              </a:rPr>
              <a:t>Rating by review year</a:t>
            </a:r>
          </a:p>
        </p:txBody>
      </p:sp>
      <p:sp>
        <p:nvSpPr>
          <p:cNvPr id="2" name="">
            <a:extLst xmlns:a="http://schemas.openxmlformats.org/drawingml/2006/main">
              <a:ext uri="{FF2B5EF4-FFF2-40B4-BE49-F238E27FC236}">
                <a16:creationId xmlns:a16="http://schemas.microsoft.com/office/drawing/2014/main" id="{4784DB47-B334-4731-AA0F-A76EEC1A9C87}"/>
              </a:ext>
            </a:extLst>
          </p:cNvPr>
          <p:cNvSpPr>
            <a:spLocks xmlns:a="http://schemas.openxmlformats.org/drawingml/2006/main" noGrp="1"/>
          </p:cNvSpPr>
          <p:nvPr/>
        </p:nvSpPr>
        <p:spPr>
          <a:xfrm xmlns:a="http://schemas.openxmlformats.org/drawingml/2006/main">
            <a:off x="685800" y="1952625"/>
            <a:ext cx="6286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3717D"/>
                </a:solidFill>
                <a:latin typeface="Arial"/>
                <a:ea typeface="Arial"/>
                <a:cs typeface="Arial"/>
              </a:defRPr>
            </a:defPPr>
          </a:lstStyle>
          <a:p xmlns:a="http://schemas.openxmlformats.org/drawingml/2006/main">
            <a:pPr>
              <a:buNone/>
              <a:defRPr sz="2400" b="0">
                <a:solidFill>
                  <a:srgbClr val="53717D"/>
                </a:solidFill>
                <a:latin typeface="Arial"/>
                <a:ea typeface="Arial"/>
                <a:cs typeface="Arial"/>
              </a:defRPr>
            </a:pPr>
            <a:r>
              <a:rPr sz="2400" b="0">
                <a:solidFill>
                  <a:srgbClr val="53717D"/>
                </a:solidFill>
                <a:latin typeface="Arial"/>
                <a:ea typeface="Arial"/>
                <a:cs typeface="Arial"/>
              </a:rPr>
              <a:t/>
            </a:r>
          </a:p>
        </p:txBody>
      </p:sp>
      <p:sp>
        <p:nvSpPr>
          <p:cNvPr id="3" name="">
            <a:extLst xmlns:a="http://schemas.openxmlformats.org/drawingml/2006/main">
              <a:ext uri="{FF2B5EF4-FFF2-40B4-BE49-F238E27FC236}">
                <a16:creationId xmlns:a16="http://schemas.microsoft.com/office/drawing/2014/main" id="{4ED8B73A-87AB-4837-87AF-019EAD020BB2}"/>
              </a:ext>
            </a:extLst>
          </p:cNvPr>
          <p:cNvSpPr>
            <a:spLocks xmlns:a="http://schemas.openxmlformats.org/drawingml/2006/main" noGrp="1"/>
          </p:cNvSpPr>
          <p:nvPr/>
        </p:nvSpPr>
        <p:spPr>
          <a:xfrm xmlns:a="http://schemas.openxmlformats.org/drawingml/2006/main">
            <a:off x="7620000" y="1952625"/>
            <a:ext cx="3762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stStyle>
          <a:p xmlns:a="http://schemas.openxmlformats.org/drawingml/2006/main">
            <a:pPr>
              <a:buNone/>
              <a:defRPr sz="2100" b="0">
                <a:solidFill>
                  <a:srgbClr val="16324F"/>
                </a:solidFill>
                <a:latin typeface="Arial"/>
                <a:ea typeface="Arial"/>
                <a:cs typeface="Arial"/>
              </a:defRPr>
            </a:pPr>
            <a:r>
              <a:rPr sz="2100" b="0">
                <a:solidFill>
                  <a:srgbClr val="16324F"/>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2D8AF616-4569-468D-A141-ED6B2457FDBC}"/>
              </a:ext>
            </a:extLst>
          </p:cNvPr>
          <p:cNvSpPr>
            <a:spLocks xmlns:a="http://schemas.openxmlformats.org/drawingml/2006/main" noGrp="1"/>
          </p:cNvSpPr>
          <p:nvPr/>
        </p:nvSpPr>
        <p:spPr>
          <a:xfrm xmlns:a="http://schemas.openxmlformats.org/drawingml/2006/main">
            <a:off x="685800" y="6191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717D"/>
                </a:solidFill>
                <a:latin typeface="Arial"/>
                <a:ea typeface="Arial"/>
                <a:cs typeface="Arial"/>
              </a:defRPr>
            </a:defPPr>
          </a:lstStyle>
          <a:p xmlns:a="http://schemas.openxmlformats.org/drawingml/2006/main">
            <a:pPr>
              <a:buNone/>
              <a:defRPr sz="1500" b="0">
                <a:solidFill>
                  <a:srgbClr val="53717D"/>
                </a:solidFill>
                <a:latin typeface="Arial"/>
                <a:ea typeface="Arial"/>
                <a:cs typeface="Arial"/>
              </a:defRPr>
            </a:pPr>
            <a:r>
              <a:rPr sz="1500" b="0">
                <a:solidFill>
                  <a:srgbClr val="53717D"/>
                </a:solidFill>
                <a:latin typeface="Arial"/>
                <a:ea typeface="Arial"/>
                <a:cs typeface="Arial"/>
              </a:rPr>
              <a:t>Average of Rating grouped by the year in Review Date.</a:t>
            </a:r>
          </a:p>
        </p:txBody>
      </p:sp>
      <p:graphicFrame>
        <p:nvGraphicFramePr>
          <p:cNvPr id="6" name="Chart">
            <a:extLst xmlns:a="http://schemas.openxmlformats.org/drawingml/2006/main">
              <a:ext uri="{FF2B5EF4-FFF2-40B4-BE49-F238E27FC236}">
                <a16:creationId xmlns:a16="http://schemas.microsoft.com/office/drawing/2014/main" id="{982671A8-B7E0-4901-A102-22F2765C2B2C}"/>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aef3dce682a64fd1"/>
          </a:graphicData>
        </a:graphic>
      </p:graphicFrame>
    </p:spTree>
    <p:extLst>
      <p:ext uri="{BB962C8B-B14F-4D97-AF65-F5344CB8AC3E}">
        <p14:creationId xmlns:p14="http://schemas.microsoft.com/office/powerpoint/2010/main" val="11566382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3F6238-E67E-4CA5-83FF-87E3169381DF}"/>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Arial"/>
                <a:ea typeface="Arial"/>
                <a:cs typeface="Arial"/>
              </a:defRPr>
            </a:defPPr>
          </a:lstStyle>
          <a:p xmlns:a="http://schemas.openxmlformats.org/drawingml/2006/main">
            <a:pPr>
              <a:buNone/>
              <a:defRPr sz="3300" b="1">
                <a:solidFill>
                  <a:srgbClr val="16324F"/>
                </a:solidFill>
                <a:latin typeface="Arial"/>
                <a:ea typeface="Arial"/>
                <a:cs typeface="Arial"/>
              </a:defRPr>
            </a:pPr>
            <a:r>
              <a:rPr sz="3300" b="1">
                <a:solidFill>
                  <a:srgbClr val="16324F"/>
                </a:solidFill>
                <a:latin typeface="Arial"/>
                <a:ea typeface="Arial"/>
                <a:cs typeface="Arial"/>
              </a:rPr>
              <a:t>Reviews by year</a:t>
            </a:r>
          </a:p>
        </p:txBody>
      </p:sp>
      <p:sp>
        <p:nvSpPr>
          <p:cNvPr id="2" name="">
            <a:extLst xmlns:a="http://schemas.openxmlformats.org/drawingml/2006/main">
              <a:ext uri="{FF2B5EF4-FFF2-40B4-BE49-F238E27FC236}">
                <a16:creationId xmlns:a16="http://schemas.microsoft.com/office/drawing/2014/main" id="{913CD667-5C1A-4913-82C1-D7C33677DF0B}"/>
              </a:ext>
            </a:extLst>
          </p:cNvPr>
          <p:cNvSpPr>
            <a:spLocks xmlns:a="http://schemas.openxmlformats.org/drawingml/2006/main" noGrp="1"/>
          </p:cNvSpPr>
          <p:nvPr/>
        </p:nvSpPr>
        <p:spPr>
          <a:xfrm xmlns:a="http://schemas.openxmlformats.org/drawingml/2006/main">
            <a:off x="685800" y="1952625"/>
            <a:ext cx="6286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3717D"/>
                </a:solidFill>
                <a:latin typeface="Arial"/>
                <a:ea typeface="Arial"/>
                <a:cs typeface="Arial"/>
              </a:defRPr>
            </a:defPPr>
          </a:lstStyle>
          <a:p xmlns:a="http://schemas.openxmlformats.org/drawingml/2006/main">
            <a:pPr>
              <a:buNone/>
              <a:defRPr sz="2400" b="0">
                <a:solidFill>
                  <a:srgbClr val="53717D"/>
                </a:solidFill>
                <a:latin typeface="Arial"/>
                <a:ea typeface="Arial"/>
                <a:cs typeface="Arial"/>
              </a:defRPr>
            </a:pPr>
            <a:r>
              <a:rPr sz="2400" b="0">
                <a:solidFill>
                  <a:srgbClr val="53717D"/>
                </a:solidFill>
                <a:latin typeface="Arial"/>
                <a:ea typeface="Arial"/>
                <a:cs typeface="Arial"/>
              </a:rPr>
              <a:t/>
            </a:r>
          </a:p>
        </p:txBody>
      </p:sp>
      <p:sp>
        <p:nvSpPr>
          <p:cNvPr id="3" name="">
            <a:extLst xmlns:a="http://schemas.openxmlformats.org/drawingml/2006/main">
              <a:ext uri="{FF2B5EF4-FFF2-40B4-BE49-F238E27FC236}">
                <a16:creationId xmlns:a16="http://schemas.microsoft.com/office/drawing/2014/main" id="{8DBF1652-1AE6-45BD-82B8-491F6EC3F04D}"/>
              </a:ext>
            </a:extLst>
          </p:cNvPr>
          <p:cNvSpPr>
            <a:spLocks xmlns:a="http://schemas.openxmlformats.org/drawingml/2006/main" noGrp="1"/>
          </p:cNvSpPr>
          <p:nvPr/>
        </p:nvSpPr>
        <p:spPr>
          <a:xfrm xmlns:a="http://schemas.openxmlformats.org/drawingml/2006/main">
            <a:off x="7620000" y="1952625"/>
            <a:ext cx="3762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stStyle>
          <a:p xmlns:a="http://schemas.openxmlformats.org/drawingml/2006/main">
            <a:pPr>
              <a:buNone/>
              <a:defRPr sz="2100" b="0">
                <a:solidFill>
                  <a:srgbClr val="16324F"/>
                </a:solidFill>
                <a:latin typeface="Arial"/>
                <a:ea typeface="Arial"/>
                <a:cs typeface="Arial"/>
              </a:defRPr>
            </a:pPr>
            <a:r>
              <a:rPr sz="2100" b="0">
                <a:solidFill>
                  <a:srgbClr val="16324F"/>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ED2E6C3F-AD5E-469E-9295-A3AA27E581A9}"/>
              </a:ext>
            </a:extLst>
          </p:cNvPr>
          <p:cNvSpPr>
            <a:spLocks xmlns:a="http://schemas.openxmlformats.org/drawingml/2006/main" noGrp="1"/>
          </p:cNvSpPr>
          <p:nvPr/>
        </p:nvSpPr>
        <p:spPr>
          <a:xfrm xmlns:a="http://schemas.openxmlformats.org/drawingml/2006/main">
            <a:off x="685800" y="6191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717D"/>
                </a:solidFill>
                <a:latin typeface="Arial"/>
                <a:ea typeface="Arial"/>
                <a:cs typeface="Arial"/>
              </a:defRPr>
            </a:defPPr>
          </a:lstStyle>
          <a:p xmlns:a="http://schemas.openxmlformats.org/drawingml/2006/main">
            <a:pPr>
              <a:buNone/>
              <a:defRPr sz="1500" b="0">
                <a:solidFill>
                  <a:srgbClr val="53717D"/>
                </a:solidFill>
                <a:latin typeface="Arial"/>
                <a:ea typeface="Arial"/>
                <a:cs typeface="Arial"/>
              </a:defRPr>
            </a:pPr>
            <a:r>
              <a:rPr sz="1500" b="0">
                <a:solidFill>
                  <a:srgbClr val="53717D"/>
                </a:solidFill>
                <a:latin typeface="Arial"/>
                <a:ea typeface="Arial"/>
                <a:cs typeface="Arial"/>
              </a:rPr>
              <a:t>Count of review rows by year, not Sum or Distinct Count of REF.</a:t>
            </a:r>
          </a:p>
        </p:txBody>
      </p:sp>
      <p:graphicFrame>
        <p:nvGraphicFramePr>
          <p:cNvPr id="6" name="Chart">
            <a:extLst xmlns:a="http://schemas.openxmlformats.org/drawingml/2006/main">
              <a:ext uri="{FF2B5EF4-FFF2-40B4-BE49-F238E27FC236}">
                <a16:creationId xmlns:a16="http://schemas.microsoft.com/office/drawing/2014/main" id="{0CCCB7B6-8FFE-4CB4-BA2A-690919678D33}"/>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313c0ac36ed94849"/>
          </a:graphicData>
        </a:graphic>
      </p:graphicFrame>
    </p:spTree>
    <p:extLst>
      <p:ext uri="{BB962C8B-B14F-4D97-AF65-F5344CB8AC3E}">
        <p14:creationId xmlns:p14="http://schemas.microsoft.com/office/powerpoint/2010/main" val="3251726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DFCD06D-047F-4EB3-9A08-9AFC714F771F}"/>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Company ratings: ranks 15–28</a:t>
            </a:r>
          </a:p>
        </p:txBody>
      </p:sp>
      <p:graphicFrame>
        <p:nvGraphicFramePr>
          <p:cNvPr id="2" name="Chart">
            <a:extLst xmlns:a="http://schemas.openxmlformats.org/drawingml/2006/main">
              <a:ext uri="{FF2B5EF4-FFF2-40B4-BE49-F238E27FC236}">
                <a16:creationId xmlns:a16="http://schemas.microsoft.com/office/drawing/2014/main" id="{4AEA97DC-655C-4985-ACFA-432D215FEAAC}"/>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7e804a65144c47f6"/>
          </a:graphicData>
        </a:graphic>
      </p:graphicFrame>
    </p:spTree>
    <p:extLst>
      <p:ext uri="{BB962C8B-B14F-4D97-AF65-F5344CB8AC3E}">
        <p14:creationId xmlns:p14="http://schemas.microsoft.com/office/powerpoint/2010/main" val="18348904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4A06B68-68AE-4177-8E42-E433ECF80D95}"/>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Company ratings: ranks 29–42</a:t>
            </a:r>
          </a:p>
        </p:txBody>
      </p:sp>
      <p:graphicFrame>
        <p:nvGraphicFramePr>
          <p:cNvPr id="2" name="Chart">
            <a:extLst xmlns:a="http://schemas.openxmlformats.org/drawingml/2006/main">
              <a:ext uri="{FF2B5EF4-FFF2-40B4-BE49-F238E27FC236}">
                <a16:creationId xmlns:a16="http://schemas.microsoft.com/office/drawing/2014/main" id="{603976BB-9757-4B77-919F-3FB37132C975}"/>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b26685241ea24176"/>
          </a:graphicData>
        </a:graphic>
      </p:graphicFrame>
    </p:spTree>
    <p:extLst>
      <p:ext uri="{BB962C8B-B14F-4D97-AF65-F5344CB8AC3E}">
        <p14:creationId xmlns:p14="http://schemas.microsoft.com/office/powerpoint/2010/main" val="2321186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8461D14-380F-422A-B33B-C45A0E907C83}"/>
              </a:ext>
            </a:extLst>
          </p:cNvPr>
          <p:cNvSpPr>
            <a:spLocks xmlns:a="http://schemas.openxmlformats.org/drawingml/2006/main" noGrp="1"/>
          </p:cNvSpPr>
          <p:nvPr/>
        </p:nvSpPr>
        <p:spPr>
          <a:xfrm xmlns:a="http://schemas.openxmlformats.org/drawingml/2006/main">
            <a:off x="685800" y="571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Cocoa percentages: ranks 16–30</a:t>
            </a:r>
          </a:p>
        </p:txBody>
      </p:sp>
      <p:graphicFrame>
        <p:nvGraphicFramePr>
          <p:cNvPr id="2" name="Chart">
            <a:extLst xmlns:a="http://schemas.openxmlformats.org/drawingml/2006/main">
              <a:ext uri="{FF2B5EF4-FFF2-40B4-BE49-F238E27FC236}">
                <a16:creationId xmlns:a16="http://schemas.microsoft.com/office/drawing/2014/main" id="{FECDB92F-6E2E-4A72-AEF4-C185B11F13E7}"/>
              </a:ext>
            </a:extLst>
          </p:cNvPr>
          <p:cNvGraphicFramePr/>
          <p:nvPr/>
        </p:nvGraphicFramePr>
        <p:xfrm>
          <a:off xmlns:a="http://schemas.openxmlformats.org/drawingml/2006/main" x="609600" y="1666875"/>
          <a:ext xmlns:a="http://schemas.openxmlformats.org/drawingml/2006/main" cx="10953750" cy="4381500"/>
        </p:xfrm>
        <a:graphic xmlns:a="http://schemas.openxmlformats.org/drawingml/2006/main">
          <a:graphicData uri="http://schemas.openxmlformats.org/drawingml/2006/chart">
            <c:chart xmlns:r="http://schemas.openxmlformats.org/officeDocument/2006/relationships" xmlns:c="http://schemas.openxmlformats.org/drawingml/2006/chart" r:id="R1365c45ce74444ad"/>
          </a:graphicData>
        </a:graphic>
      </p:graphicFrame>
    </p:spTree>
    <p:extLst>
      <p:ext uri="{BB962C8B-B14F-4D97-AF65-F5344CB8AC3E}">
        <p14:creationId xmlns:p14="http://schemas.microsoft.com/office/powerpoint/2010/main" val="14565113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2026-10-14T22:10:12.4840000Z</dcterms:created>
  <dcterms:modified xsi:type="dcterms:W3CDTF">2026-10-14T22:10:12.4840000Z</dcterms:modified>
</coreProperties>
</file>